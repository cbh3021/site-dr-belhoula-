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828800"/>
            <a:ext cx="5943600" cy="5943600"/>
          </a:xfrm>
          <a:prstGeom prst="ellipse">
            <a:avLst/>
          </a:prstGeom>
          <a:solidFill>
            <a:srgbClr val="0F3A35"/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4114800"/>
            <a:ext cx="3840480" cy="3840480"/>
          </a:xfrm>
          <a:prstGeom prst="ellipse">
            <a:avLst/>
          </a:prstGeom>
          <a:solidFill>
            <a:srgbClr val="0E332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060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Suivi Biologique Patients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les bilans, repérer les anomalies et visualiser leur évolution — sans quitter le cabinet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100584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Hédi BELHOULA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6451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 de Médecine Générale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bilans biologiques difficiles à suivre dans la durée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37560" cy="3246120"/>
          </a:xfrm>
          <a:prstGeom prst="roundRect">
            <a:avLst>
              <a:gd name="adj" fmla="val 2254"/>
            </a:avLst>
          </a:prstGeom>
          <a:solidFill>
            <a:srgbClr val="F6FAFA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8600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00A896"/>
          </a:solidFill>
          <a:ln/>
        </p:spPr>
      </p:sp>
      <p:pic>
        <p:nvPicPr>
          <p:cNvPr id="6" name="Image 0" descr="/home/claude/build/icons/icon_fold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45059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2004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résultats dispersés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384048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de laboratoire, papier, tableurs : chaque bilan reste isolé, sans vision d'ensemble sur plusieurs années.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965960"/>
            <a:ext cx="3337560" cy="3246120"/>
          </a:xfrm>
          <a:prstGeom prst="roundRect">
            <a:avLst>
              <a:gd name="adj" fmla="val 2254"/>
            </a:avLst>
          </a:prstGeom>
          <a:solidFill>
            <a:srgbClr val="F6FAFA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228600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00A896"/>
          </a:solidFill>
          <a:ln/>
        </p:spPr>
      </p:sp>
      <p:pic>
        <p:nvPicPr>
          <p:cNvPr id="11" name="Image 1" descr="/home/claude/build/icons/icon_ch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45059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2004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anomalies qui passent inaperçues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17720" y="384048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valeur limite ne dit rien seule ; c'est son évolution sur plusieurs bilans qui doit alerter.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955280" y="1965960"/>
            <a:ext cx="3337560" cy="3246120"/>
          </a:xfrm>
          <a:prstGeom prst="roundRect">
            <a:avLst>
              <a:gd name="adj" fmla="val 2254"/>
            </a:avLst>
          </a:prstGeom>
          <a:solidFill>
            <a:srgbClr val="F6FA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275320" y="228600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00A896"/>
          </a:solidFill>
          <a:ln/>
        </p:spPr>
      </p:sp>
      <p:pic>
        <p:nvPicPr>
          <p:cNvPr id="16" name="Image 2" descr="/home/claude/build/icons/icon_calculato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245059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32004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indices à recalculer à la main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75320" y="384048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DFG, IMC, risque cardiovasculaire (SCORE2)… des calculs répétitifs à refaire à chaque consultation.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Biologique Patients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dossier biologique tenu à jour en trois gestes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manuelle ou import automatique, tableau de bord actualisé à chaque bilan.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337560" cy="3063240"/>
          </a:xfrm>
          <a:prstGeom prst="roundRect">
            <a:avLst>
              <a:gd name="adj" fmla="val 2388"/>
            </a:avLst>
          </a:prstGeom>
          <a:solidFill>
            <a:srgbClr val="F6FAF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77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C9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965960" y="292608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00A896"/>
          </a:solidFill>
          <a:ln/>
        </p:spPr>
      </p:sp>
      <p:pic>
        <p:nvPicPr>
          <p:cNvPr id="8" name="Image 0" descr="/home/claude/build/icons/icon_camera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0552" y="3090672"/>
            <a:ext cx="356616" cy="3566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7947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ou scanner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42062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manuelle, ou import automatique par OCR d'un compte-rendu de laboratoire (photo, scan, PDF).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97680" y="2148840"/>
            <a:ext cx="3337560" cy="3063240"/>
          </a:xfrm>
          <a:prstGeom prst="roundRect">
            <a:avLst>
              <a:gd name="adj" fmla="val 2388"/>
            </a:avLst>
          </a:prstGeom>
          <a:solidFill>
            <a:srgbClr val="F6FAFA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0" y="2377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C9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623560" y="292608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00A896"/>
          </a:solidFill>
          <a:ln/>
        </p:spPr>
      </p:sp>
      <p:pic>
        <p:nvPicPr>
          <p:cNvPr id="14" name="Image 1" descr="/home/claude/build/icons/icon_ch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2" y="3090672"/>
            <a:ext cx="356616" cy="3566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72000" y="37947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572000" y="42062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valeurs sont comparées aux normes du patient, classées par catégorie et intégrées aux courbes de tendance.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7955280" y="2148840"/>
            <a:ext cx="3337560" cy="3063240"/>
          </a:xfrm>
          <a:prstGeom prst="roundRect">
            <a:avLst>
              <a:gd name="adj" fmla="val 2388"/>
            </a:avLst>
          </a:prstGeom>
          <a:solidFill>
            <a:srgbClr val="F6FAFA"/>
          </a:solidFill>
          <a:ln/>
        </p:spPr>
      </p:sp>
      <p:sp>
        <p:nvSpPr>
          <p:cNvPr id="18" name="Text 14"/>
          <p:cNvSpPr/>
          <p:nvPr/>
        </p:nvSpPr>
        <p:spPr>
          <a:xfrm>
            <a:off x="8229600" y="2377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C9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9281160" y="292608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00A896"/>
          </a:solidFill>
          <a:ln/>
        </p:spPr>
      </p:sp>
      <p:pic>
        <p:nvPicPr>
          <p:cNvPr id="20" name="Image 2" descr="/home/claude/build/icons/icon_stethoscop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752" y="3090672"/>
            <a:ext cx="356616" cy="35661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29600" y="37947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Orienter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229600" y="42062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tableau de bord signale les anomalies, calcule les indices cliniques et propose des pistes de surveillance.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Biologique Patients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tableau de bord clair, par patient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709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actives, tendances à surveiller et bilans enregistrés regroupés en un coup d'œil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Indices cliniques calculés automatiquement (DFG CKD-EPI, IMC, HOMA-IR, SCORE2…) dès que les données nécessaires sont renseignées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Antécédents et traitements en cours affichés en permanence pour contextualiser chaque anomalie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complet consultable en un clic, avec export PDF pour la consultation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522976" y="1911096"/>
            <a:ext cx="6281928" cy="2966630"/>
          </a:xfrm>
          <a:prstGeom prst="roundRect">
            <a:avLst>
              <a:gd name="adj" fmla="val 1849"/>
            </a:avLst>
          </a:prstGeom>
          <a:solidFill>
            <a:srgbClr val="FFFFFF"/>
          </a:solidFill>
          <a:ln w="12700">
            <a:solidFill>
              <a:srgbClr val="E1E8E7"/>
            </a:solidFill>
            <a:prstDash val="solid"/>
          </a:ln>
          <a:effectLst>
            <a:outerShdw sx="100000" sy="100000" kx="0" ky="0" algn="bl" rotWithShape="0" blurRad="127000" dist="38100" dir="5400000">
              <a:srgbClr val="1A3B36">
                <a:alpha val="25000"/>
              </a:srgbClr>
            </a:outerShdw>
          </a:effectLst>
        </p:spPr>
      </p:sp>
      <p:pic>
        <p:nvPicPr>
          <p:cNvPr id="6" name="Image 0" descr="/mnt/user-data/uploads/22_09_2026_14_31_59_R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965960"/>
            <a:ext cx="6172200" cy="28569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77840" y="4960022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d'écran — Tableau de bord patient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Biologique Patients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CLÉS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Tout le suivi biologique, dans une seule application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0A896"/>
          </a:solidFill>
          <a:ln/>
        </p:spPr>
      </p:sp>
      <p:pic>
        <p:nvPicPr>
          <p:cNvPr id="5" name="Image 0" descr="/home/claude/build/icons/icon_camera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2040941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856232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OCR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0080" y="2496312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scan ou PDF d'un bilan de laboratoire : les valeurs reconnues remplissent automatiquement la fiche.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97680" y="19202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0A896"/>
          </a:solidFill>
          <a:ln/>
        </p:spPr>
      </p:sp>
      <p:pic>
        <p:nvPicPr>
          <p:cNvPr id="9" name="Image 1" descr="/home/claude/build/icons/icon_ch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381" y="204094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56048" y="1856232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Courbes de tendance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297680" y="2496312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paramètre est tracé dans le temps, avec sa zone de norme en repère visuel.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955280" y="19202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0A896"/>
          </a:solidFill>
          <a:ln/>
        </p:spPr>
      </p:sp>
      <p:pic>
        <p:nvPicPr>
          <p:cNvPr id="13" name="Image 2" descr="/home/claude/build/icons/icon_slid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5981" y="2040941"/>
            <a:ext cx="261518" cy="26151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13648" y="1856232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Normes personnalisables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7955280" y="2496312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référentiel de normes modifiable par paramètre, avec seuil de sévérité ajustable.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39319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0A896"/>
          </a:solidFill>
          <a:ln/>
        </p:spPr>
      </p:sp>
      <p:pic>
        <p:nvPicPr>
          <p:cNvPr id="17" name="Image 3" descr="/home/claude/build/icons/icon_ale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4052621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98448" y="3867912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d'anomalies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40080" y="4507992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valeurs hors norme sont classées par sévérité et signalées sur le tableau de bord.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297680" y="39319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0A896"/>
          </a:solidFill>
          <a:ln/>
        </p:spPr>
      </p:sp>
      <p:pic>
        <p:nvPicPr>
          <p:cNvPr id="21" name="Image 4" descr="/home/claude/build/icons/icon_lin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8381" y="4052621"/>
            <a:ext cx="261518" cy="26151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956048" y="3867912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clinique croisée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4297680" y="4507992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pistes générées à partir de plusieurs paramètres croisés (ex. cholestase, bicytopénie), à titre indicatif.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7955280" y="39319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0A896"/>
          </a:solidFill>
          <a:ln/>
        </p:spPr>
      </p:sp>
      <p:pic>
        <p:nvPicPr>
          <p:cNvPr id="25" name="Image 5" descr="/home/claude/build/icons/icon_user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5981" y="4052621"/>
            <a:ext cx="261518" cy="26151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613648" y="3867912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Multi-patients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7955280" y="4507992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fiche par patient, avec antécédents, traitements et allergies toujours visibles.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Biologique Patients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données chiffrées, qui restent au cabinet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37560" cy="3246120"/>
          </a:xfrm>
          <a:prstGeom prst="roundRect">
            <a:avLst>
              <a:gd name="adj" fmla="val 2254"/>
            </a:avLst>
          </a:prstGeom>
          <a:solidFill>
            <a:srgbClr val="F6FAFA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8600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00A896"/>
          </a:solidFill>
          <a:ln/>
        </p:spPr>
      </p:sp>
      <p:pic>
        <p:nvPicPr>
          <p:cNvPr id="6" name="Image 0" descr="/home/claude/build/icons/icon_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45059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2004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local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384048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données sont chiffrées sur l'appareil (AES-GCM), avec une clé dérivée du mot de passe du praticien.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965960"/>
            <a:ext cx="3337560" cy="3246120"/>
          </a:xfrm>
          <a:prstGeom prst="roundRect">
            <a:avLst>
              <a:gd name="adj" fmla="val 2254"/>
            </a:avLst>
          </a:prstGeom>
          <a:solidFill>
            <a:srgbClr val="F6FAFA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228600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00A896"/>
          </a:solidFill>
          <a:ln/>
        </p:spPr>
      </p:sp>
      <p:pic>
        <p:nvPicPr>
          <p:cNvPr id="11" name="Image 1" descr="/home/claude/build/icons/icon_serv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45059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2004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donnée hébergée à l'extérieur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17720" y="384048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 fonctionne sans compte ni serveur distant : rien ne quitte le cabinet.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955280" y="1965960"/>
            <a:ext cx="3337560" cy="3246120"/>
          </a:xfrm>
          <a:prstGeom prst="roundRect">
            <a:avLst>
              <a:gd name="adj" fmla="val 2254"/>
            </a:avLst>
          </a:prstGeom>
          <a:solidFill>
            <a:srgbClr val="F6FA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275320" y="228600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00A896"/>
          </a:solidFill>
          <a:ln/>
        </p:spPr>
      </p:sp>
      <p:pic>
        <p:nvPicPr>
          <p:cNvPr id="16" name="Image 2" descr="/home/claude/build/icons/icon_expo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245059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32004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maîtrisée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75320" y="384048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et connexion à un fichier existant pour sauvegarder ou partager le dossier en toute autonomie.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Biologique Patients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RÉSULTAT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7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pistes cliniques croisées, générées automatiquement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des notes cliniques par paramètre hors norme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Pistes évoquées par croisement de plusieurs paramètres, avec surveillance et orientation spécialiste conseillées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du patient (antécédents, traitements) intégré à l'analyse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 à titre indicatif : ne remplace en aucun cas l'examen clinique et le jugement du médecin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072133" y="3191256"/>
            <a:ext cx="6047429" cy="3127248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1E8E7"/>
            </a:solidFill>
            <a:prstDash val="solid"/>
          </a:ln>
          <a:effectLst>
            <a:outerShdw sx="100000" sy="100000" kx="0" ky="0" algn="bl" rotWithShape="0" blurRad="127000" dist="38100" dir="5400000">
              <a:srgbClr val="1A3B36">
                <a:alpha val="25000"/>
              </a:srgbClr>
            </a:outerShdw>
          </a:effectLst>
        </p:spPr>
      </p:sp>
      <p:pic>
        <p:nvPicPr>
          <p:cNvPr id="6" name="Image 0" descr="/mnt/user-data/uploads/22_09_2026_14_32_54_R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6997" y="3246120"/>
            <a:ext cx="5937701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Biologique Patients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828800"/>
            <a:ext cx="5943600" cy="5943600"/>
          </a:xfrm>
          <a:prstGeom prst="ellipse">
            <a:avLst/>
          </a:prstGeom>
          <a:solidFill>
            <a:srgbClr val="0F3A35"/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4114800"/>
            <a:ext cx="3840480" cy="3840480"/>
          </a:xfrm>
          <a:prstGeom prst="ellipse">
            <a:avLst/>
          </a:prstGeom>
          <a:solidFill>
            <a:srgbClr val="0E332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GAGNE LE CABINET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0F3A35"/>
          </a:solidFill>
          <a:ln/>
        </p:spPr>
      </p:sp>
      <p:pic>
        <p:nvPicPr>
          <p:cNvPr id="6" name="Image 0" descr="/home/claude/build/icons/icon_clo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2677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175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temps retrouvé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352044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automatique et calculs en formule, plutôt que des heures passées à ressaisir ou reformater un bilan.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210312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0F3A35"/>
          </a:solidFill>
          <a:ln/>
        </p:spPr>
      </p:sp>
      <p:pic>
        <p:nvPicPr>
          <p:cNvPr id="10" name="Image 1" descr="/home/claude/build/icons/icon_targe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226771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97680" y="30175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fiabilité accrue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297680" y="352044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Formules automatiques et vérifications systématiques suppriment les erreurs de saisie ou de calcul.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955280" y="210312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0F3A35"/>
          </a:solidFill>
          <a:ln/>
        </p:spPr>
      </p:sp>
      <p:pic>
        <p:nvPicPr>
          <p:cNvPr id="14" name="Image 2" descr="/home/claude/build/icons/icon_list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2267712"/>
            <a:ext cx="356616" cy="35661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955280" y="30175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suivi structuré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7955280" y="352044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bilan est classé, comparable et retrouvable en un instant, bilan après bilan.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Biologique Patients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828800"/>
            <a:ext cx="5943600" cy="5943600"/>
          </a:xfrm>
          <a:prstGeom prst="ellipse">
            <a:avLst/>
          </a:prstGeom>
          <a:solidFill>
            <a:srgbClr val="0F3A35"/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4114800"/>
            <a:ext cx="3840480" cy="3840480"/>
          </a:xfrm>
          <a:prstGeom prst="ellipse">
            <a:avLst/>
          </a:prstGeom>
          <a:solidFill>
            <a:srgbClr val="0E332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Suivi Biologique Patients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suivi biologique plus clair, plus rapide, mieux orienté.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2026-09-23T06:53:51Z</dcterms:created>
  <dcterms:modified xsi:type="dcterms:W3CDTF">2026-09-23T06:53:51Z</dcterms:modified>
</cp:coreProperties>
</file>