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50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09" y="0"/>
            <a:ext cx="12191695" cy="6858000"/>
          </a:xfrm>
          <a:prstGeom prst="rect">
            <a:avLst/>
          </a:prstGeom>
          <a:solidFill>
            <a:srgbClr val="0F3E4E"/>
          </a:solidFill>
          <a:ln/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3" name="Shape 1"/>
          <p:cNvSpPr/>
          <p:nvPr/>
        </p:nvSpPr>
        <p:spPr>
          <a:xfrm>
            <a:off x="5661508" y="777240"/>
            <a:ext cx="86868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tension/pitch_assets/icon_hear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991" y="985723"/>
            <a:ext cx="451714" cy="4517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9659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TENSIONNEL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743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08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cardiovasculaire de votre cabinet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984248" y="3310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tension artérielle &amp; du risque cardiovasculaire — conforme aux recommandations ESC/ESH 2023 et SCORE2 (ESC 2021)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84648" y="5806440"/>
            <a:ext cx="1828800" cy="0"/>
          </a:xfrm>
          <a:prstGeom prst="line">
            <a:avLst/>
          </a:prstGeom>
          <a:noFill/>
          <a:ln w="12700">
            <a:solidFill>
              <a:srgbClr val="1C6B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 Hédi Belhoula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de Médecine Générale · Samedi 5 Septembre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6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suivi tensionnel repose encore trop souvent sur l’approximation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6" name="Image 0" descr="/home/claude/tension/pitch_assets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22849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manuelle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49631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grades de tension (ESC/ESH) sont recalculés à la main, au risque d’une erreur de lecture.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66928" cy="566928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10" name="Image 1" descr="/home/claude/tension/pitch_assets/icon_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23" y="22849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cardiovasculaire complexe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249631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SCORE2 croise plusieurs variables : peu de temps pour le calculer de façon fiable en consultation.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14" name="Image 2" descr="/home/claude/tension/pitch_assets/icon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429658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dispersé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450799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notées sur papier ou dans des tableurs séparés, difficiles à croiser dans le temps.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309360" y="4160520"/>
            <a:ext cx="566928" cy="566928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18" name="Image 3" descr="/home/claude/tension/pitch_assets/icon_filet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5423" y="429658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remettre au patient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7040880" y="450799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synthèse claire et imprimable à joindre au dossier ou à transmettre à un confrère.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6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tableau de bord patients, pensé pour la consultation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6" name="Image 0" descr="/home/claude/tension/pitch_assets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24345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2585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patients triée, avec pastille de couleur selon le grade tensionnel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9" name="Image 1" descr="/home/claude/tension/pitch_assets/icon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35775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0432" y="34015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instantanée et dossier complet en un clic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12" name="Image 2" descr="/home/claude/tension/pitch_assets/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472059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70432" y="45445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le poste du cabinet, sans connexion internet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550408" y="1895074"/>
            <a:ext cx="6272784" cy="3342173"/>
          </a:xfrm>
          <a:prstGeom prst="roundRect">
            <a:avLst>
              <a:gd name="adj" fmla="val 2189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127000" dist="38100" dir="5400000" algn="bl" rotWithShape="0">
              <a:srgbClr val="1A2B31">
                <a:alpha val="22000"/>
              </a:srgbClr>
            </a:outerShdw>
          </a:effectLst>
        </p:spPr>
      </p:sp>
      <p:pic>
        <p:nvPicPr>
          <p:cNvPr id="15" name="Image 3" descr="/home/claude/tension/pitch_assets/img_list_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1968226"/>
            <a:ext cx="6126480" cy="319586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6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PATIENT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Toutes les données cliniques utiles, calculées automatiquement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75488" y="2258568"/>
            <a:ext cx="6409944" cy="2961680"/>
          </a:xfrm>
          <a:prstGeom prst="roundRect">
            <a:avLst>
              <a:gd name="adj" fmla="val 2470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127000" dist="38100" dir="5400000" algn="bl" rotWithShape="0">
              <a:srgbClr val="1A2B31">
                <a:alpha val="22000"/>
              </a:srgbClr>
            </a:outerShdw>
          </a:effectLst>
        </p:spPr>
      </p:sp>
      <p:pic>
        <p:nvPicPr>
          <p:cNvPr id="6" name="Image 0" descr="/home/claude/tension/pitch_assets/img_patien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6263640" cy="28153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2148840"/>
            <a:ext cx="420624" cy="420624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8" name="Image 1" descr="/home/claude/tension/pitch_assets/icon_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120" y="2243480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2057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calculé automatiquement à partir du poids et de la taille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269480" y="3200400"/>
            <a:ext cx="420624" cy="420624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11" name="Image 2" descr="/home/claude/tension/pitch_assets/icon_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120" y="3295040"/>
            <a:ext cx="231343" cy="231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18120" y="3108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tension et tendance affichées instantanément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269480" y="4251960"/>
            <a:ext cx="420624" cy="420624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14" name="Image 3" descr="/home/claude/tension/pitch_assets/icon_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4120" y="4346600"/>
            <a:ext cx="231343" cy="231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818120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et fréquence de pouls dérivés de chaque mesure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269480" y="5303520"/>
            <a:ext cx="420624" cy="420624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17" name="Image 4" descr="/home/claude/tension/pitch_assets/icon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4120" y="5398160"/>
            <a:ext cx="231343" cy="231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1812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HTA (ESC/ESH 2023) mis à jour à chaque saisie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6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AUTOMATIQUE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grades tensionnels, appliqués selon les recommandations ESC/ESH 2023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08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69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calculés instantanément,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l’optimale au grade 3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2039112"/>
            <a:ext cx="201168" cy="201168"/>
          </a:xfrm>
          <a:prstGeom prst="ellipse">
            <a:avLst/>
          </a:prstGeom>
          <a:solidFill>
            <a:srgbClr val="1B7F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120 / 80 mmHg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660904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542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120–129 / 80–84 mmHg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3282696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31638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 haute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1638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130–139 / 85–89 mmHg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904488"/>
            <a:ext cx="201168" cy="201168"/>
          </a:xfrm>
          <a:prstGeom prst="ellipse">
            <a:avLst/>
          </a:prstGeom>
          <a:solidFill>
            <a:srgbClr val="F08C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0" y="3785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785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140–159 / 90–99 mmHg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4526280"/>
            <a:ext cx="201168" cy="20116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407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160–179 / 100–109 mmHg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5148072"/>
            <a:ext cx="201168" cy="201168"/>
          </a:xfrm>
          <a:prstGeom prst="ellipse">
            <a:avLst/>
          </a:prstGeom>
          <a:solidFill>
            <a:srgbClr val="C015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0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180 / 110 mmHg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58338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détection automatique des formes particulières, comme l’HTA systolique isolée.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6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DU RISQUE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risque cardiovasculaire, chiffré et documenté à chaque consultation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633576" y="1801368"/>
            <a:ext cx="8924544" cy="3203263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127000" dist="38100" dir="5400000" algn="bl" rotWithShape="0">
              <a:srgbClr val="1A2B31">
                <a:alpha val="22000"/>
              </a:srgbClr>
            </a:outerShdw>
          </a:effectLst>
        </p:spPr>
      </p:sp>
      <p:pic>
        <p:nvPicPr>
          <p:cNvPr id="6" name="Image 0" descr="/home/claude/tension/pitch_assets/img_risk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8" y="1874520"/>
            <a:ext cx="8778240" cy="305695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6588" y="5315527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8028" y="5315527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SCORE2 / SCORE2-OP (ESC 2021)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75508" y="5315527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66948" y="5315527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Atteinte d’organe cible — DFG CKD-EPI 2021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64428" y="5315527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55868" y="5315527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LDL personnalisée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953348" y="5315527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44788" y="5315527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 à tenir ESC/ESH 2023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6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DANS LE TEMPS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L’évolution tensionnelle, visible en un regard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9176" y="1892808"/>
            <a:ext cx="10753344" cy="2338472"/>
          </a:xfrm>
          <a:prstGeom prst="roundRect">
            <a:avLst>
              <a:gd name="adj" fmla="val 3128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127000" dist="38100" dir="5400000" algn="bl" rotWithShape="0">
              <a:srgbClr val="1A2B31">
                <a:alpha val="22000"/>
              </a:srgbClr>
            </a:outerShdw>
          </a:effectLst>
        </p:spPr>
      </p:sp>
      <p:pic>
        <p:nvPicPr>
          <p:cNvPr id="6" name="Image 0" descr="/home/claude/tension/pitch_assets/img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1965960"/>
            <a:ext cx="10607040" cy="2192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95348" y="4569608"/>
            <a:ext cx="502920" cy="502920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8" name="Image 1" descr="/home/claude/tension/pitch_assets/icon_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505" y="4682765"/>
            <a:ext cx="276606" cy="27660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6588" y="522797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cibles visuelles (optimale &lt;120/80, seuil HTA 140/90)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844388" y="4569608"/>
            <a:ext cx="502920" cy="502920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11" name="Image 2" descr="/home/claude/tension/pitch_assets/icon_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545" y="4682765"/>
            <a:ext cx="276606" cy="27660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35628" y="522797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systolique et diastolique en un coup d’œil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9593428" y="4569608"/>
            <a:ext cx="502920" cy="502920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14" name="Image 3" descr="/home/claude/tension/pitch_assets/icon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6585" y="4682765"/>
            <a:ext cx="276606" cy="27660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84668" y="522797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 d’intensification thérapeutique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6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&amp; CONFIDENTIALITÉ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données, chez vous, un point c’est tout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66928" cy="566928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6" name="Image 0" descr="/home/claude/tension/pitch_assets/icon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23763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58775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restent dans un fichier SQLite sur le poste du cabinet — jamais dans le cloud.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2240280"/>
            <a:ext cx="566928" cy="566928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10" name="Image 1" descr="/home/claude/tension/pitch_assets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23" y="237634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abonnement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258775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autonome, sans connexion internet requise pour fonctionner au quotidien.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14" name="Image 2" descr="/home/claude/tension/pitch_assets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438802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automatique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459943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saisie est enregistrée sur disque, sans aucune action manuelle.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309360" y="4251960"/>
            <a:ext cx="566928" cy="566928"/>
          </a:xfrm>
          <a:prstGeom prst="ellipse">
            <a:avLst/>
          </a:prstGeom>
          <a:solidFill>
            <a:srgbClr val="0F3E4E"/>
          </a:solidFill>
          <a:ln/>
        </p:spPr>
      </p:sp>
      <p:pic>
        <p:nvPicPr>
          <p:cNvPr id="18" name="Image 3" descr="/home/claude/tension/pitch_assets/icon_prin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5423" y="438802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imprimer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7040880" y="459943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PDF claire, générée en un clic pour le dossier ou un confrère.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E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ça change, concrètement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0868" y="2377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C6B7A"/>
          </a:solidFill>
          <a:ln/>
        </p:spPr>
      </p:sp>
      <p:sp>
        <p:nvSpPr>
          <p:cNvPr id="6" name="Shape 4"/>
          <p:cNvSpPr/>
          <p:nvPr/>
        </p:nvSpPr>
        <p:spPr>
          <a:xfrm>
            <a:off x="1592428" y="2697480"/>
            <a:ext cx="502920" cy="502920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7" name="Image 0" descr="/home/claude/tension/pitch_assets/icon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585" y="28106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0868" y="3429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23748" y="4389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manuel de risque ou de grade tensionnel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75508" y="2377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C6B7A"/>
          </a:solidFill>
          <a:ln/>
        </p:spPr>
      </p:sp>
      <p:sp>
        <p:nvSpPr>
          <p:cNvPr id="11" name="Shape 8"/>
          <p:cNvSpPr/>
          <p:nvPr/>
        </p:nvSpPr>
        <p:spPr>
          <a:xfrm>
            <a:off x="4427068" y="2697480"/>
            <a:ext cx="502920" cy="502920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12" name="Image 1" descr="/home/claude/tension/pitch_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25" y="28106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75508" y="3429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3558388" y="4389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ESC/ESH 2023 &amp; SCORE2 (ESC 2021)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0148" y="2377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C6B7A"/>
          </a:solidFill>
          <a:ln/>
        </p:spPr>
      </p:sp>
      <p:sp>
        <p:nvSpPr>
          <p:cNvPr id="16" name="Shape 12"/>
          <p:cNvSpPr/>
          <p:nvPr/>
        </p:nvSpPr>
        <p:spPr>
          <a:xfrm>
            <a:off x="7261708" y="2697480"/>
            <a:ext cx="502920" cy="502920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17" name="Image 2" descr="/home/claude/tension/pitch_assets/icon_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865" y="28106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0148" y="3429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4"/>
          <p:cNvSpPr txBox="1"/>
          <p:nvPr/>
        </p:nvSpPr>
        <p:spPr>
          <a:xfrm>
            <a:off x="6393028" y="4389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hors-ligne, sans abonnement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44788" y="2377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C6B7A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96348" y="2697480"/>
            <a:ext cx="502920" cy="502920"/>
          </a:xfrm>
          <a:prstGeom prst="ellipse">
            <a:avLst/>
          </a:prstGeom>
          <a:solidFill>
            <a:srgbClr val="F08C1E"/>
          </a:solidFill>
          <a:ln/>
        </p:spPr>
      </p:sp>
      <p:pic>
        <p:nvPicPr>
          <p:cNvPr id="22" name="Image 3" descr="/home/claude/tension/pitch_assets/icon_prin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9505" y="281063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44788" y="3429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clic</a:t>
            </a:r>
            <a:endParaRPr lang="en-US" sz="4400" dirty="0"/>
          </a:p>
        </p:txBody>
      </p:sp>
      <p:sp>
        <p:nvSpPr>
          <p:cNvPr id="24" name="Text 18"/>
          <p:cNvSpPr txBox="1"/>
          <p:nvPr/>
        </p:nvSpPr>
        <p:spPr>
          <a:xfrm>
            <a:off x="9227668" y="4389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compte-rendu prêt à imprimer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E4E"/>
          </a:solidFill>
          <a:ln/>
        </p:spPr>
      </p:sp>
      <p:sp>
        <p:nvSpPr>
          <p:cNvPr id="3" name="Shape 1"/>
          <p:cNvSpPr/>
          <p:nvPr/>
        </p:nvSpPr>
        <p:spPr>
          <a:xfrm>
            <a:off x="5730088" y="868680"/>
            <a:ext cx="731520" cy="731520"/>
          </a:xfrm>
          <a:prstGeom prst="roundRect">
            <a:avLst>
              <a:gd name="adj" fmla="val 21250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tension/pitch_assets/icon_hear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652" y="104424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2331720"/>
            <a:ext cx="9994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mesure. Chaque patient.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décision clinique mieux informée.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379476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8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Tensionnel Patient — conçue pour un usage quotidien au cabinet.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84648" y="5623560"/>
            <a:ext cx="1828800" cy="0"/>
          </a:xfrm>
          <a:prstGeom prst="line">
            <a:avLst/>
          </a:prstGeom>
          <a:noFill/>
          <a:ln w="12700">
            <a:solidFill>
              <a:srgbClr val="1C6B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 Hédi Belhoula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6108192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de Médecine Générale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574</Words>
  <Application>Microsoft Office PowerPoint</Application>
  <PresentationFormat>Grand écran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Cabinet Belhoula Hédi</cp:lastModifiedBy>
  <cp:revision>2</cp:revision>
  <dcterms:created xsi:type="dcterms:W3CDTF">2026-09-06T09:21:23Z</dcterms:created>
  <dcterms:modified xsi:type="dcterms:W3CDTF">2026-09-21T16:48:33Z</dcterms:modified>
</cp:coreProperties>
</file>