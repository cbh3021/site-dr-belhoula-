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377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5029200" cy="5029200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GROSSESSE — OUTIL MÉDICAL NOUVELLE GÉNÉRATION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GestaClic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terme, les repères et le bilan bio-clinique de chaque grossesse, réunis dans une seule fiche patiente — claire pour vous, rassurante pour elle.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Datation automatisée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4251960"/>
            <a:ext cx="2336292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251960"/>
            <a:ext cx="23362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par trimestre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6732" y="4251960"/>
            <a:ext cx="2432304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6732" y="42519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 selon le terme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Hédi Belhoula  •  Application Bureau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suivi de grossesse reste dispersé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calculé à la main, échéances suivies sur papier, examens oubliés ou redondants : la charge mentale du suivi retombe sur le praticien — et sur la patiente.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F4F7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r>
              <a:rPr lang="en-US" sz="16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cadrer avec des dizaines d'échéances réparties sur 3 trimestres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23317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6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calculs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89120" y="32918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terme différents à croiser : DDR, échographie, méthode clinique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0" y="23317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F4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6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oubli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955280" y="32918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suffit à manquer un dépistage, une vaccination ou une injection anti-D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: </a:t>
            </a:r>
            <a:r>
              <a:rPr lang="en-US" sz="14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consultations plus longues, une traçabilité fragile, et une patiente qui repart sans repère clair sur les semaines à venir.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GestaClic — Dr. Hédi Belhoula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fiche, trois piliers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Gestationnel structure chaque consultation autour de trois blocs qui se mettent à jour automatiquement, du 1er au 3ème trimestre.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7947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du terme théorique et corrigé (DDR, cycle, échographie) et de la DPA.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2880360" cy="0"/>
          </a:xfrm>
          <a:prstGeom prst="line">
            <a:avLst/>
          </a:prstGeom>
          <a:noFill/>
          <a:ln w="19050">
            <a:solidFill>
              <a:srgbClr val="F4F7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5046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 à chaque consultation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70248" y="2148840"/>
            <a:ext cx="3429000" cy="37947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0288" y="2468880"/>
            <a:ext cx="685800" cy="685800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90288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44568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Repères par trimestre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44568" y="384048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fœtal, santé maternelle, alimentation : l'essentiel du trimestre en cours.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44568" y="5440680"/>
            <a:ext cx="2880360" cy="0"/>
          </a:xfrm>
          <a:prstGeom prst="line">
            <a:avLst/>
          </a:prstGeom>
          <a:noFill/>
          <a:ln w="19050">
            <a:solidFill>
              <a:srgbClr val="F4F7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55046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 à chaque consultation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91856" y="2148840"/>
            <a:ext cx="3429000" cy="37947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11896" y="2468880"/>
            <a:ext cx="685800" cy="685800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21" name="Text 19"/>
          <p:cNvSpPr/>
          <p:nvPr/>
        </p:nvSpPr>
        <p:spPr>
          <a:xfrm>
            <a:off x="8311896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266176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Examen bio-clinique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266176" y="384048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échéances dynamiques, ordonnés et affichés selon le terme réel de la patiente.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66176" y="5440680"/>
            <a:ext cx="2880360" cy="0"/>
          </a:xfrm>
          <a:prstGeom prst="line">
            <a:avLst/>
          </a:prstGeom>
          <a:noFill/>
          <a:ln w="19050">
            <a:solidFill>
              <a:srgbClr val="F4F7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55046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 à chaque consultation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GestaClic — Dr. Hédi Belhoula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9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Datation précise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terme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la DDR, de la durée du cycle et, si besoin, de l'échographie, l'outil calcule terme théorique, terme corrigé et DPA — sans risque d'erreur de report.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3017520" cy="0"/>
          </a:xfrm>
          <a:prstGeom prst="line">
            <a:avLst/>
          </a:prstGeom>
          <a:noFill/>
          <a:ln w="19050">
            <a:solidFill>
              <a:srgbClr val="2E8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754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terme fiable, socle de tout le suivi qui suit.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914400"/>
            <a:ext cx="6675120" cy="5120640"/>
          </a:xfrm>
          <a:prstGeom prst="roundRect">
            <a:avLst>
              <a:gd name="adj" fmla="val 2143"/>
            </a:avLst>
          </a:prstGeom>
          <a:solidFill>
            <a:srgbClr val="F4F7F8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188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Datation de la grossesse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57800" y="1737360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801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40680" y="200253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01/07/2026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57800" y="2450592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514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DU CYCLE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40680" y="271576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jours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57800" y="316382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3227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CONCEPTION (ESTIMÉE)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34290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15/07/2026 — J14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57800" y="387705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39410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THÉORIQUE (SA)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0680" y="414223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SA + 5j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57800" y="4681728"/>
            <a:ext cx="5943600" cy="1051560"/>
          </a:xfrm>
          <a:prstGeom prst="roundRect">
            <a:avLst>
              <a:gd name="adj" fmla="val 8696"/>
            </a:avLst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479145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SA + 5 jours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32120" y="52760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trimestre — DPA estimée au 07/04/2027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GestaClic — Dr. Hédi Belhoula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repères clairs à chaque trimestre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affiché s'ajuste automatiquement au trimestre en cours — plus besoin de ressortir un mémo ou une fiche externe en consultation.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720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41448"/>
            <a:ext cx="603504" cy="6035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16" dirty="0"/>
          </a:p>
        </p:txBody>
      </p:sp>
      <p:sp>
        <p:nvSpPr>
          <p:cNvPr id="8" name="Text 6"/>
          <p:cNvSpPr/>
          <p:nvPr/>
        </p:nvSpPr>
        <p:spPr>
          <a:xfrm>
            <a:off x="1691640" y="23134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Développement fœtal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91640" y="267919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Organogenèse, battements cardiaques, croissance — le repère médical du moment.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6720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767328"/>
            <a:ext cx="603504" cy="603504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673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16" dirty="0"/>
          </a:p>
        </p:txBody>
      </p:sp>
      <p:sp>
        <p:nvSpPr>
          <p:cNvPr id="13" name="Text 11"/>
          <p:cNvSpPr/>
          <p:nvPr/>
        </p:nvSpPr>
        <p:spPr>
          <a:xfrm>
            <a:off x="1691640" y="363931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 maternelle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91640" y="400507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Signes d'alerte, conduite à tenir, gestes de prévention propres au trimestre.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6720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5093208"/>
            <a:ext cx="603504" cy="603504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932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16" dirty="0"/>
          </a:p>
        </p:txBody>
      </p:sp>
      <p:sp>
        <p:nvSpPr>
          <p:cNvPr id="18" name="Text 16"/>
          <p:cNvSpPr/>
          <p:nvPr/>
        </p:nvSpPr>
        <p:spPr>
          <a:xfrm>
            <a:off x="1691640" y="49651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Alimentation &amp; hygiène de vie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91640" y="533095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nutritionnelles et comportementales, prêtes à transmettre à la patiente.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21488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 trimestre (0 – 14 SA)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0956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 en cours — 11 SA + 5j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09560" y="32461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du cœur, du tube neural et des ébauches des membres dès 5–8 SA. Battements cardiaques visibles dès 6–7 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09560" y="4343400"/>
            <a:ext cx="146304" cy="146304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25" name="Shape 23"/>
          <p:cNvSpPr/>
          <p:nvPr/>
        </p:nvSpPr>
        <p:spPr>
          <a:xfrm>
            <a:off x="7982712" y="4517136"/>
            <a:ext cx="0" cy="384048"/>
          </a:xfrm>
          <a:prstGeom prst="line">
            <a:avLst/>
          </a:prstGeom>
          <a:noFill/>
          <a:ln w="19050">
            <a:solidFill>
              <a:srgbClr val="3E59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42428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trimestre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09560" y="4910328"/>
            <a:ext cx="146304" cy="146304"/>
          </a:xfrm>
          <a:prstGeom prst="ellipse">
            <a:avLst/>
          </a:prstGeom>
          <a:solidFill>
            <a:srgbClr val="3E5975"/>
          </a:solidFill>
          <a:ln/>
        </p:spPr>
      </p:sp>
      <p:sp>
        <p:nvSpPr>
          <p:cNvPr id="28" name="Shape 26"/>
          <p:cNvSpPr/>
          <p:nvPr/>
        </p:nvSpPr>
        <p:spPr>
          <a:xfrm>
            <a:off x="7982712" y="5084064"/>
            <a:ext cx="0" cy="384048"/>
          </a:xfrm>
          <a:prstGeom prst="line">
            <a:avLst/>
          </a:prstGeom>
          <a:noFill/>
          <a:ln w="19050">
            <a:solidFill>
              <a:srgbClr val="3E59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48097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trimestre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09560" y="5477256"/>
            <a:ext cx="146304" cy="146304"/>
          </a:xfrm>
          <a:prstGeom prst="ellipse">
            <a:avLst/>
          </a:prstGeom>
          <a:solidFill>
            <a:srgbClr val="3E5975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53766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 trimestre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GestaClic — Dr. Hédi Belhoula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bilan bio-clinique, ordonné selon le terme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examen apparaît à la bonne fenêtre — échographies, marqueurs, vaccinations, injection anti-D — avec les échéances passées automatiquement masquées.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350008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E8825B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35000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RÉALISER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27706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11–13.9 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Échographie T1 + clarté nucale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384048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Datation précise (LCC), dépistage combiné de la trisomie 21.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6352" y="214884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4F7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980944" y="2350008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2E8B9A"/>
          </a:solidFill>
          <a:ln/>
        </p:spPr>
      </p:sp>
      <p:sp>
        <p:nvSpPr>
          <p:cNvPr id="13" name="Text 11"/>
          <p:cNvSpPr/>
          <p:nvPr/>
        </p:nvSpPr>
        <p:spPr>
          <a:xfrm>
            <a:off x="2980944" y="235000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80944" y="27706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22–24 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80944" y="306324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Échographie morphologique T2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80944" y="384048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morphologique fœtale détaillée, biométrie, doppler.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84064" y="214884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4F7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248656" y="2350008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2E8B9A"/>
          </a:solidFill>
          <a:ln/>
        </p:spPr>
      </p:sp>
      <p:sp>
        <p:nvSpPr>
          <p:cNvPr id="19" name="Text 17"/>
          <p:cNvSpPr/>
          <p:nvPr/>
        </p:nvSpPr>
        <p:spPr>
          <a:xfrm>
            <a:off x="5248656" y="235000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248656" y="27706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24–28 SA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48656" y="306324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Dépistage diabète gestationnel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48656" y="384048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HGPO 75g selon facteurs de risque ou en systématique.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51776" y="214884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4F7F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16368" y="2350008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2E8B9A"/>
          </a:solidFill>
          <a:ln/>
        </p:spPr>
      </p:sp>
      <p:sp>
        <p:nvSpPr>
          <p:cNvPr id="25" name="Text 23"/>
          <p:cNvSpPr/>
          <p:nvPr/>
        </p:nvSpPr>
        <p:spPr>
          <a:xfrm>
            <a:off x="7516368" y="235000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516368" y="27706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28–28.9 SA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16368" y="306324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 anti-D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516368" y="384048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de l'allo-immunisation si Rhésus négatif.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19488" y="214884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4F7F8"/>
          </a:solidFill>
          <a:ln/>
        </p:spPr>
      </p:sp>
      <p:sp>
        <p:nvSpPr>
          <p:cNvPr id="30" name="Shape 28"/>
          <p:cNvSpPr/>
          <p:nvPr/>
        </p:nvSpPr>
        <p:spPr>
          <a:xfrm>
            <a:off x="9784080" y="2350008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2E8B9A"/>
          </a:solidFill>
          <a:ln/>
        </p:spPr>
      </p:sp>
      <p:sp>
        <p:nvSpPr>
          <p:cNvPr id="31" name="Text 29"/>
          <p:cNvSpPr/>
          <p:nvPr/>
        </p:nvSpPr>
        <p:spPr>
          <a:xfrm>
            <a:off x="9784080" y="235000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784080" y="27706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32–34 SA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0" y="306324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Échographie T3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784080" y="384048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Biométrie, présentation, liquide amniotique, doppler.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GestaClic — Dr. Hédi Belhoula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Utile au praticien, rassurant pour la patiente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praticien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980944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5292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et DPA calculés en un instant, sans erreur de report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739896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118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échéance de dépistage ou de vaccination oubliée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498848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37083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patiente standardisée, prête pour le dossier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257800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12978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temps sur le calcul, plus de temps sur l'écoute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2194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882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patiente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2980944"/>
            <a:ext cx="146304" cy="146304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85292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explication claire de l'étape de grossesse en cours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3739896"/>
            <a:ext cx="146304" cy="146304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6118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vision d'ensemble des prochains rendez-vous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4498848"/>
            <a:ext cx="146304" cy="146304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37083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conseils nutrition et hygiène de vie adaptés au terme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5257800"/>
            <a:ext cx="146304" cy="146304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512978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support imprimable à conserver entre les consultations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GestaClic — Dr. Hédi Belhoula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 OUTIL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Conçu par un praticien, pour la pratique quotidienne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4884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en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319272"/>
            <a:ext cx="20939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Terme, repères et bilan bio-clinique dans une seule fiche, sans ressaisie.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3666744" y="2148840"/>
            <a:ext cx="566928" cy="566928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3666744" y="288036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à jour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66744" y="3319272"/>
            <a:ext cx="20939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s'actualise selon le terme réel calculé à la date de consultation.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87452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8816" y="2148840"/>
            <a:ext cx="566928" cy="566928"/>
          </a:xfrm>
          <a:prstGeom prst="ellipse">
            <a:avLst/>
          </a:prstGeom>
          <a:solidFill>
            <a:srgbClr val="E8825B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6528816" y="288036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Prêt à imprimer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28816" y="3319272"/>
            <a:ext cx="20939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patiente propre, lisible, à remettre ou archiver telle quelle.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87452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390888" y="214884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🛈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9390888" y="288036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HAS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90888" y="3319272"/>
            <a:ext cx="20939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Échéances alignées sur les repères de suivi de grossesse en vigueur.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</a:t>
            </a:r>
            <a:r>
              <a:rPr lang="en-US" sz="13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identification, une date de consultation, une DDR — la fiche se construit et s'ajuste seule.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GestaClic — Dr. Hédi Belhoula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943600" cy="59436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931920"/>
            <a:ext cx="5029200" cy="5029200"/>
          </a:xfrm>
          <a:prstGeom prst="ellipse">
            <a:avLst/>
          </a:prstGeom>
          <a:solidFill>
            <a:srgbClr val="2E8B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suivi de grossesse plus simple,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dès la prochaine consultation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Gestationnel réunit le terme, les repères par trimestre et le bilan bio-clinique dans une fiche patiente unique — pensée pour aller à l'essentiel en consultation.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Hédi Belhoula — Application Bureau — GestaClic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890</Words>
  <Application>Microsoft Office PowerPoint</Application>
  <PresentationFormat>Grand écran</PresentationFormat>
  <Paragraphs>137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Cabinet Belhoula Hédi</cp:lastModifiedBy>
  <cp:revision>2</cp:revision>
  <dcterms:created xsi:type="dcterms:W3CDTF">2026-09-21T18:11:35Z</dcterms:created>
  <dcterms:modified xsi:type="dcterms:W3CDTF">2026-09-21T18:19:35Z</dcterms:modified>
</cp:coreProperties>
</file>