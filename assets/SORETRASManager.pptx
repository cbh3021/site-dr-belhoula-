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82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4624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F5C3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931920"/>
            <a:ext cx="3657600" cy="3657600"/>
          </a:xfrm>
          <a:prstGeom prst="ellipse">
            <a:avLst/>
          </a:prstGeom>
          <a:solidFill>
            <a:srgbClr val="0F5C30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SORETRAS Manager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facturation SORETRAS enfin fiable, rapide et professionnelle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Hédi Belhoula . </a:t>
            </a:r>
            <a:r>
              <a:rPr lang="en-US" sz="1200" dirty="0">
                <a:solidFill>
                  <a:srgbClr val="9F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bureau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2EED722-0D30-6B45-51F9-611C92B6F6AE}"/>
              </a:ext>
            </a:extLst>
          </p:cNvPr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classeur Excel à bout de souffle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bordereaux SORETRAS repose aujourd'hui sur un classeur Excel macro (.xlsm). Un outil que le cabinet connaît bien — mais qui montre ses limites au quotidien.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87168" cy="3794760"/>
          </a:xfrm>
          <a:prstGeom prst="roundRect">
            <a:avLst>
              <a:gd name="adj" fmla="val 2941"/>
            </a:avLst>
          </a:prstGeom>
          <a:solidFill>
            <a:srgbClr val="0A4624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57884" y="2674620"/>
            <a:ext cx="868680" cy="868680"/>
          </a:xfrm>
          <a:prstGeom prst="ellipse">
            <a:avLst/>
          </a:prstGeom>
          <a:solidFill>
            <a:srgbClr val="0F5C3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54" y="289179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5196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formule cassée ou un copier-coller malheureux, et tout le fichier est menacé.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2286000"/>
            <a:ext cx="2487168" cy="3794760"/>
          </a:xfrm>
          <a:prstGeom prst="roundRect">
            <a:avLst>
              <a:gd name="adj" fmla="val 2941"/>
            </a:avLst>
          </a:prstGeom>
          <a:solidFill>
            <a:srgbClr val="0A4624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01084" y="2674620"/>
            <a:ext cx="868680" cy="868680"/>
          </a:xfrm>
          <a:prstGeom prst="ellipse">
            <a:avLst/>
          </a:prstGeom>
          <a:solidFill>
            <a:srgbClr val="0F5C3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254" y="289179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Chronophage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20440" y="425196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patient, calculs, mise en forme : tout se fait manuellement, à chaque bordereau.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2286000"/>
            <a:ext cx="2487168" cy="3794760"/>
          </a:xfrm>
          <a:prstGeom prst="roundRect">
            <a:avLst>
              <a:gd name="adj" fmla="val 2941"/>
            </a:avLst>
          </a:prstGeom>
          <a:solidFill>
            <a:srgbClr val="0A4624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44284" y="2674620"/>
            <a:ext cx="868680" cy="868680"/>
          </a:xfrm>
          <a:prstGeom prst="ellipse">
            <a:avLst/>
          </a:prstGeom>
          <a:solidFill>
            <a:srgbClr val="0F5C3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454" y="289179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sécurisé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63640" y="425196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protection réelle contre les erreurs de saisie ou les pertes de données.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778240" y="2286000"/>
            <a:ext cx="2487168" cy="3794760"/>
          </a:xfrm>
          <a:prstGeom prst="roundRect">
            <a:avLst>
              <a:gd name="adj" fmla="val 2941"/>
            </a:avLst>
          </a:prstGeom>
          <a:solidFill>
            <a:srgbClr val="0A4624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87484" y="2674620"/>
            <a:ext cx="868680" cy="868680"/>
          </a:xfrm>
          <a:prstGeom prst="ellipse">
            <a:avLst/>
          </a:prstGeom>
          <a:solidFill>
            <a:srgbClr val="0F5C3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4654" y="289179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1540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évolutif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006840" y="425196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à faire grandir sans complexifier encore davantage les macros existantes.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SORETRAS Manager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outil sur-mesure, pensé pour le cabinet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SORETRAS Manager reprend exactement la logique métier de l'ancien classeur — mais dans une application de bureau moderne, stable et rapide, conçue spécifiquement pour la facturation SORETRAS auprès de STAR Assurances.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34015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" y="3471062"/>
            <a:ext cx="226771" cy="2267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 et structurée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395020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" y="4019702"/>
            <a:ext cx="226771" cy="2267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claire, sans courbe d'apprentissage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4360" y="449884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" y="4568342"/>
            <a:ext cx="226771" cy="2267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complète de l'historique existant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55080" y="822960"/>
            <a:ext cx="534924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6E4DA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005840"/>
            <a:ext cx="4983480" cy="32369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7960" y="43434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vue d'ensemble de l'activité du cabinet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SORETRAS Manager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le nécessaire, rien de superflu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3F0E7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81965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19677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877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bordereaux, montants en attente et total cumulé, en un coup d'œil.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3F0E7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424" y="181965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557" y="19677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877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Patients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Autocomplétion : matricule, C.P. et n° de carte de soins retrouvés instantanément.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3F0E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84464" y="181965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597" y="19677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5877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Bordereaux automatisés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Numérotation séquentielle annuelle et calcul instantané du total dû.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3F0E7"/>
          </a:solidFill>
          <a:ln/>
        </p:spPr>
      </p:sp>
      <p:sp>
        <p:nvSpPr>
          <p:cNvPr id="20" name="Shape 15"/>
          <p:cNvSpPr/>
          <p:nvPr/>
        </p:nvSpPr>
        <p:spPr>
          <a:xfrm>
            <a:off x="786384" y="419709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7" y="434522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65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professionnel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2760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prêt à l'envoi : en-tête, tableau soigné, total mis en valeur.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3F0E7"/>
          </a:solidFill>
          <a:ln/>
        </p:spPr>
      </p:sp>
      <p:sp>
        <p:nvSpPr>
          <p:cNvPr id="25" name="Shape 19"/>
          <p:cNvSpPr/>
          <p:nvPr/>
        </p:nvSpPr>
        <p:spPr>
          <a:xfrm>
            <a:off x="4535424" y="419709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3557" y="434522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965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statut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26280" y="52760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 d'envoi ou envoyé : plus aucun dossier ne se perd.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3F0E7"/>
          </a:solidFill>
          <a:ln/>
        </p:spPr>
      </p:sp>
      <p:sp>
        <p:nvSpPr>
          <p:cNvPr id="30" name="Shape 23"/>
          <p:cNvSpPr/>
          <p:nvPr/>
        </p:nvSpPr>
        <p:spPr>
          <a:xfrm>
            <a:off x="8284464" y="419709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597" y="434522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965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Bilans annuels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52760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par année, exportable en PDF, pour le suivi comptable.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SORETRAS Manager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bordereau au document envoyé à l'assureur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bordereau est constitué patient par patient, puis exporté en un clic vers un PDF prêt à être transmis — sans aucune mise en forme manuelle.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6E4DA"/>
            </a:solidFill>
            <a:prstDash val="solid"/>
          </a:ln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074920" cy="32826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4406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4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Saisie du bordereau dans l'application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03620" y="3817620"/>
            <a:ext cx="502920" cy="502920"/>
          </a:xfrm>
          <a:prstGeom prst="ellipse">
            <a:avLst/>
          </a:prstGeom>
          <a:solidFill>
            <a:srgbClr val="0F5C3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829" y="4068829"/>
            <a:ext cx="503" cy="503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457200" cy="457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675120" y="1874520"/>
            <a:ext cx="493776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6E4DA"/>
            </a:solidFill>
            <a:prstDash val="solid"/>
          </a:ln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057400"/>
            <a:ext cx="4572000" cy="32278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5800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4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PDF généré automatiquement, prêt à l'envoi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SORETRAS Manager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4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DIFFÉRENT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atouts qui font la différence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487168" cy="3931920"/>
          </a:xfrm>
          <a:prstGeom prst="roundRect">
            <a:avLst>
              <a:gd name="adj" fmla="val 2941"/>
            </a:avLst>
          </a:prstGeom>
          <a:solidFill>
            <a:srgbClr val="0F5C30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57884" y="2491740"/>
            <a:ext cx="868680" cy="868680"/>
          </a:xfrm>
          <a:prstGeom prst="ellipse">
            <a:avLst/>
          </a:prstGeom>
          <a:solidFill>
            <a:srgbClr val="0A462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54" y="270891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autonome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202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connexion internet requise. Vos données restent en local, sur le poste du cabinet.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2148840"/>
            <a:ext cx="2487168" cy="3931920"/>
          </a:xfrm>
          <a:prstGeom prst="roundRect">
            <a:avLst>
              <a:gd name="adj" fmla="val 2941"/>
            </a:avLst>
          </a:prstGeom>
          <a:solidFill>
            <a:srgbClr val="0F5C30">
              <a:alpha val="8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101084" y="2491740"/>
            <a:ext cx="868680" cy="868680"/>
          </a:xfrm>
          <a:prstGeom prst="ellipse">
            <a:avLst/>
          </a:prstGeom>
          <a:solidFill>
            <a:srgbClr val="0A462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254" y="270891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0440" y="4023360"/>
            <a:ext cx="202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structurée : fini les formules cassées et les fichiers corrompus.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148840"/>
            <a:ext cx="2487168" cy="3931920"/>
          </a:xfrm>
          <a:prstGeom prst="roundRect">
            <a:avLst>
              <a:gd name="adj" fmla="val 2941"/>
            </a:avLst>
          </a:prstGeom>
          <a:solidFill>
            <a:srgbClr val="0F5C30">
              <a:alpha val="8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44284" y="2491740"/>
            <a:ext cx="868680" cy="868680"/>
          </a:xfrm>
          <a:prstGeom prst="ellipse">
            <a:avLst/>
          </a:prstGeom>
          <a:solidFill>
            <a:srgbClr val="0A462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454" y="270891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4023360"/>
            <a:ext cx="202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prenait plusieurs manipulations dans Excel se fait désormais en quelques clics.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78240" y="2148840"/>
            <a:ext cx="2487168" cy="3931920"/>
          </a:xfrm>
          <a:prstGeom prst="roundRect">
            <a:avLst>
              <a:gd name="adj" fmla="val 2941"/>
            </a:avLst>
          </a:prstGeom>
          <a:solidFill>
            <a:srgbClr val="0F5C30">
              <a:alpha val="8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587484" y="2491740"/>
            <a:ext cx="868680" cy="868680"/>
          </a:xfrm>
          <a:prstGeom prst="ellipse">
            <a:avLst/>
          </a:prstGeom>
          <a:solidFill>
            <a:srgbClr val="0A462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4654" y="270891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15400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Évolutif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006840" y="4023360"/>
            <a:ext cx="202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être maintenu et enrichi dans le temps, sans dépendre d'un fichier devenu illisible.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SORETRAS Manager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MIGRATION EN CHIFFRES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l'historique repris, sans rien perdre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premier lancement, l'application a repris automatiquement l'ensemble des données de l'ancien classeur Excel — le cabinet n'est jamais reparti de zéro.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487168" cy="3108960"/>
          </a:xfrm>
          <a:prstGeom prst="roundRect">
            <a:avLst>
              <a:gd name="adj" fmla="val 2941"/>
            </a:avLst>
          </a:prstGeom>
          <a:solidFill>
            <a:srgbClr val="E3F0E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97480"/>
            <a:ext cx="175564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4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87952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importés automatiquement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377440"/>
            <a:ext cx="2487168" cy="3108960"/>
          </a:xfrm>
          <a:prstGeom prst="roundRect">
            <a:avLst>
              <a:gd name="adj" fmla="val 2941"/>
            </a:avLst>
          </a:prstGeom>
          <a:solidFill>
            <a:srgbClr val="E3F0E7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697480"/>
            <a:ext cx="175564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83464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4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2900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4187952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historisés depuis 2023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377440"/>
            <a:ext cx="2487168" cy="3108960"/>
          </a:xfrm>
          <a:prstGeom prst="roundRect">
            <a:avLst>
              <a:gd name="adj" fmla="val 2941"/>
            </a:avLst>
          </a:prstGeom>
          <a:solidFill>
            <a:srgbClr val="E3F0E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697480"/>
            <a:ext cx="175564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83464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4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17220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4187952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reprises sans ressaisie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0" y="2377440"/>
            <a:ext cx="2487168" cy="3108960"/>
          </a:xfrm>
          <a:prstGeom prst="roundRect">
            <a:avLst>
              <a:gd name="adj" fmla="val 2941"/>
            </a:avLst>
          </a:prstGeom>
          <a:solidFill>
            <a:srgbClr val="E3F0E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2697480"/>
            <a:ext cx="175564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83464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4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2023–2026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1540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4187952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totale des données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SORETRAS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4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486400" cy="5486400"/>
          </a:xfrm>
          <a:prstGeom prst="ellipse">
            <a:avLst/>
          </a:prstGeom>
          <a:solidFill>
            <a:srgbClr val="0F5C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SORETRAS Manager transforme une gestion administrative répétitive et risquée en un processus fluide, traçable et professionnel.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4023360"/>
            <a:ext cx="201168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spécifiquement pour les besoins de facturation SORETRAS / STAR Assurances du Cabinet Dr Hédi Belhoula — autonome, fiable, et prêt à évoluer.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Hédi Belhoula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SORETRAS Manager · Application bureau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566</Words>
  <Application>Microsoft Office PowerPoint</Application>
  <PresentationFormat>Grand écran</PresentationFormat>
  <Paragraphs>90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Cabinet Belhoula Hédi</cp:lastModifiedBy>
  <cp:revision>2</cp:revision>
  <dcterms:created xsi:type="dcterms:W3CDTF">2026-09-05T13:01:46Z</dcterms:created>
  <dcterms:modified xsi:type="dcterms:W3CDTF">2026-09-21T17:00:06Z</dcterms:modified>
</cp:coreProperties>
</file>