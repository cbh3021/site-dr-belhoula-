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32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7FA3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F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685800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matière médicale homéopathique, réinventée pour la pratique clinique.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425196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pathologies indexées · 326 souches homéopathiques restructurées à partir de l'ouvrage de référence Poitevin, Saint-Jean, Demarque, Jouanny.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initiative du Dr Hédi Belhoula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35240" y="2606040"/>
            <a:ext cx="3977640" cy="2215040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35240" y="2606040"/>
            <a:ext cx="397764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1" name="Shape 9"/>
          <p:cNvSpPr/>
          <p:nvPr/>
        </p:nvSpPr>
        <p:spPr>
          <a:xfrm>
            <a:off x="7635240" y="2756916"/>
            <a:ext cx="397764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54112" y="269382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3" name="Shape 11"/>
          <p:cNvSpPr/>
          <p:nvPr/>
        </p:nvSpPr>
        <p:spPr>
          <a:xfrm>
            <a:off x="7909560" y="269382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8065008" y="269382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5" name="Image 0" descr="/mnt/user-data/uploads/22_09_2026_08_37_49_R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880360"/>
            <a:ext cx="3977640" cy="194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ouvrage de référence exceptionnel, mais lourd à consulter en consultation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840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624328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Chercher un remède dans un index papier de plusieurs centaines de pages prend un temps que le praticien n'a pas face au patient.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867912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4010558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37947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pathologies, 326 souches homéopathiques : une richesse d'information difficile à parcourir rapidement au bon moment.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5038344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2" descr="doc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5180990"/>
            <a:ext cx="263347" cy="2633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4965192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praticien a besoin d'une réponse fiable, classée par pertinence clinique, immédiatement — pas après la consultation.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726680" y="1417320"/>
            <a:ext cx="3886200" cy="2170426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726680" y="1417320"/>
            <a:ext cx="388620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5" name="Shape 10"/>
          <p:cNvSpPr/>
          <p:nvPr/>
        </p:nvSpPr>
        <p:spPr>
          <a:xfrm>
            <a:off x="7726680" y="1568196"/>
            <a:ext cx="388620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6" name="Shape 11"/>
          <p:cNvSpPr/>
          <p:nvPr/>
        </p:nvSpPr>
        <p:spPr>
          <a:xfrm>
            <a:off x="7845552" y="150510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7" name="Shape 12"/>
          <p:cNvSpPr/>
          <p:nvPr/>
        </p:nvSpPr>
        <p:spPr>
          <a:xfrm>
            <a:off x="8001000" y="150510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8" name="Shape 13"/>
          <p:cNvSpPr/>
          <p:nvPr/>
        </p:nvSpPr>
        <p:spPr>
          <a:xfrm>
            <a:off x="8156448" y="150510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9" name="Image 3" descr="/mnt/user-data/uploads/22_09_2026_08_37_49_R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691640"/>
            <a:ext cx="3886200" cy="18961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Materiamedica transforme l'ouvrage en un outil de recherche instantané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et développé pour un usage professionnel au cabinet : entièrement numérique, consultable en quelques secondes, et utilisable sans connexion.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B3320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337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pathologies indexées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3108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B3320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3337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54880" y="4251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souches homéopathiques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310896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1B3320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3337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595360" y="4251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hors-ligne &amp; local, sans serveur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3D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extraites et restructurées à partir de l'index des pathologies de « Pharmacologie &amp; matière médicale homéopathique » (B. Poitevin, Y. Saint-Jean, D. Demarque, J. Jouanny).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en nuage de médicaments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signe, un symptôme, une affection : les remèdes indiqués s'affichent instantanément en nuage, du plus cité au moins cité dans l'ouvrage de référence.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7F7F4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33756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arthralgie »  →  22 médicaments classés par pertinence clinique, en un seul écran.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0" descr="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483991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47091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fréquentes suggérées : céphalée, toux, diarrhée, anxiété, insomnie, asthme…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005840"/>
            <a:ext cx="5394960" cy="2927672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100584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2" name="Shape 9"/>
          <p:cNvSpPr/>
          <p:nvPr/>
        </p:nvSpPr>
        <p:spPr>
          <a:xfrm>
            <a:off x="6172200" y="1156716"/>
            <a:ext cx="539496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3" name="Shape 10"/>
          <p:cNvSpPr/>
          <p:nvPr/>
        </p:nvSpPr>
        <p:spPr>
          <a:xfrm>
            <a:off x="6291072" y="109362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4" name="Shape 11"/>
          <p:cNvSpPr/>
          <p:nvPr/>
        </p:nvSpPr>
        <p:spPr>
          <a:xfrm>
            <a:off x="6446520" y="109362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5" name="Shape 12"/>
          <p:cNvSpPr/>
          <p:nvPr/>
        </p:nvSpPr>
        <p:spPr>
          <a:xfrm>
            <a:off x="6601968" y="109362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6" name="Image 1" descr="/mnt/user-data/uploads/22_09_2026_08_38_54_R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394960" cy="26533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309360" y="86868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Chaque remède, une fiche clinique complète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309360" y="233172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botanique, dilution de référence, page dans l'ouvrage, action générale, indications principales et exemples de posologie prêts à l'emploi.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3621024"/>
            <a:ext cx="128016" cy="128016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0" y="3447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&amp; dilution de référence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4096512"/>
            <a:ext cx="128016" cy="128016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39227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générale détaillée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4572000"/>
            <a:ext cx="128016" cy="128016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43982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par spécialité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5047488"/>
            <a:ext cx="128016" cy="128016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48737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posologie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005840"/>
            <a:ext cx="5349240" cy="2899697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1005840"/>
            <a:ext cx="534924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156716"/>
            <a:ext cx="534924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6" name="Shape 14"/>
          <p:cNvSpPr/>
          <p:nvPr/>
        </p:nvSpPr>
        <p:spPr>
          <a:xfrm>
            <a:off x="758952" y="109362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109362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9848" y="109362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9" name="Image 0" descr="/mnt/user-data/uploads/22_09_2026_08_39_21_R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349240" cy="262537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L'ouvrage original, texte intégral et annotable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 texte complet de chaque fiche depuis l'ouvrage source, avec impression PDF, export .txt et un espace de notes personnelles annotable.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7FA363"/>
          </a:solidFill>
          <a:ln/>
        </p:spPr>
      </p:sp>
      <p:pic>
        <p:nvPicPr>
          <p:cNvPr id="6" name="Image 0" descr="ex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6393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566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/ PDF &amp; télécharger .txt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178808"/>
            <a:ext cx="457200" cy="457200"/>
          </a:xfrm>
          <a:prstGeom prst="ellipse">
            <a:avLst/>
          </a:prstGeom>
          <a:solidFill>
            <a:srgbClr val="7FA363"/>
          </a:solidFill>
          <a:ln/>
        </p:spPr>
      </p:sp>
      <p:pic>
        <p:nvPicPr>
          <p:cNvPr id="9" name="Image 1" descr="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2976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42245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à tout moment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837176"/>
            <a:ext cx="457200" cy="457200"/>
          </a:xfrm>
          <a:prstGeom prst="ellipse">
            <a:avLst/>
          </a:prstGeom>
          <a:solidFill>
            <a:srgbClr val="7FA363"/>
          </a:solidFill>
          <a:ln/>
        </p:spPr>
      </p:sp>
      <p:pic>
        <p:nvPicPr>
          <p:cNvPr id="12" name="Image 2" descr="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95604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8828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Annoter et afficher mes notes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675120" y="868680"/>
            <a:ext cx="4892040" cy="5180258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675120" y="868680"/>
            <a:ext cx="489204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6" name="Shape 11"/>
          <p:cNvSpPr/>
          <p:nvPr/>
        </p:nvSpPr>
        <p:spPr>
          <a:xfrm>
            <a:off x="6675120" y="1019556"/>
            <a:ext cx="489204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7" name="Shape 12"/>
          <p:cNvSpPr/>
          <p:nvPr/>
        </p:nvSpPr>
        <p:spPr>
          <a:xfrm>
            <a:off x="6793992" y="95646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8" name="Shape 13"/>
          <p:cNvSpPr/>
          <p:nvPr/>
        </p:nvSpPr>
        <p:spPr>
          <a:xfrm>
            <a:off x="6949440" y="95646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9" name="Shape 14"/>
          <p:cNvSpPr/>
          <p:nvPr/>
        </p:nvSpPr>
        <p:spPr>
          <a:xfrm>
            <a:off x="7104888" y="95646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20" name="Image 3" descr="/mnt/user-data/uploads/22_09_2026_08_39_49_RE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143000"/>
            <a:ext cx="4892040" cy="49059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936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309360" y="86868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400" b="1" dirty="0">
                <a:solidFill>
                  <a:srgbClr val="1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carnet de prescriptions et d'expériences personnelles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09360" y="23774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C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praticien enregistre ses propres prescriptions et observations par indication : médicaments, posologies, contexte et résultats observés.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0" y="36118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6537960" y="3813048"/>
            <a:ext cx="457200" cy="457200"/>
          </a:xfrm>
          <a:prstGeom prst="ellipse">
            <a:avLst/>
          </a:prstGeom>
          <a:solidFill>
            <a:srgbClr val="1B3320"/>
          </a:solidFill>
          <a:ln/>
        </p:spPr>
      </p:sp>
      <p:pic>
        <p:nvPicPr>
          <p:cNvPr id="7" name="Image 0" descr="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39319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38221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totale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37960" y="4279392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3E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envoyé sur un serveur : les données restent stockées uniquement sur l'appareil du praticien, avec export/import pour les sauvegarder ou les transférer.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1005840"/>
            <a:ext cx="5394960" cy="4519061"/>
          </a:xfrm>
          <a:prstGeom prst="roundRect">
            <a:avLst>
              <a:gd name="adj" fmla="val 1214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1005840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ECECE8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1156716"/>
            <a:ext cx="5394960" cy="137160"/>
          </a:xfrm>
          <a:prstGeom prst="rect">
            <a:avLst/>
          </a:prstGeom>
          <a:solidFill>
            <a:srgbClr val="ECECE8"/>
          </a:solidFill>
          <a:ln/>
        </p:spPr>
      </p:sp>
      <p:sp>
        <p:nvSpPr>
          <p:cNvPr id="13" name="Shape 10"/>
          <p:cNvSpPr/>
          <p:nvPr/>
        </p:nvSpPr>
        <p:spPr>
          <a:xfrm>
            <a:off x="758952" y="1093622"/>
            <a:ext cx="91440" cy="91440"/>
          </a:xfrm>
          <a:prstGeom prst="ellipse">
            <a:avLst/>
          </a:prstGeom>
          <a:solidFill>
            <a:srgbClr val="E7A6A6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1093622"/>
            <a:ext cx="91440" cy="91440"/>
          </a:xfrm>
          <a:prstGeom prst="ellipse">
            <a:avLst/>
          </a:prstGeom>
          <a:solidFill>
            <a:srgbClr val="ECD9A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69848" y="1093622"/>
            <a:ext cx="91440" cy="91440"/>
          </a:xfrm>
          <a:prstGeom prst="ellipse">
            <a:avLst/>
          </a:prstGeom>
          <a:solidFill>
            <a:srgbClr val="A9CBA5"/>
          </a:solidFill>
          <a:ln/>
        </p:spPr>
      </p:sp>
      <p:pic>
        <p:nvPicPr>
          <p:cNvPr id="16" name="Image 1" descr="/mnt/user-data/uploads/22_09_2026_08_40_50_R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394960" cy="424474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MATERIAMEDICA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Conçu pour le rythme réel du cabinet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221992"/>
            <a:ext cx="530352" cy="530352"/>
          </a:xfrm>
          <a:prstGeom prst="ellipse">
            <a:avLst/>
          </a:prstGeom>
          <a:solidFill>
            <a:srgbClr val="1B3320"/>
          </a:solidFill>
          <a:ln/>
        </p:spPr>
      </p:sp>
      <p:pic>
        <p:nvPicPr>
          <p:cNvPr id="6" name="Image 0" descr="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004" y="235988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en secondes, pendant la consultation.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34840" y="19659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2C5F2D"/>
          </a:solidFill>
          <a:ln/>
        </p:spPr>
      </p:sp>
      <p:sp>
        <p:nvSpPr>
          <p:cNvPr id="10" name="Shape 7"/>
          <p:cNvSpPr/>
          <p:nvPr/>
        </p:nvSpPr>
        <p:spPr>
          <a:xfrm>
            <a:off x="4690872" y="2221992"/>
            <a:ext cx="530352" cy="530352"/>
          </a:xfrm>
          <a:prstGeom prst="ellipse">
            <a:avLst/>
          </a:prstGeom>
          <a:solidFill>
            <a:srgbClr val="1B3320"/>
          </a:solidFill>
          <a:ln/>
        </p:spPr>
      </p:sp>
      <p:pic>
        <p:nvPicPr>
          <p:cNvPr id="11" name="Image 1" descr="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764" y="235988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0872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90872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envoyée sur un serveur.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2C5F2D"/>
          </a:solidFill>
          <a:ln/>
        </p:spPr>
      </p:sp>
      <p:sp>
        <p:nvSpPr>
          <p:cNvPr id="15" name="Shape 11"/>
          <p:cNvSpPr/>
          <p:nvPr/>
        </p:nvSpPr>
        <p:spPr>
          <a:xfrm>
            <a:off x="8485632" y="2221992"/>
            <a:ext cx="530352" cy="530352"/>
          </a:xfrm>
          <a:prstGeom prst="ellipse">
            <a:avLst/>
          </a:prstGeom>
          <a:solidFill>
            <a:srgbClr val="1B3320"/>
          </a:solidFill>
          <a:ln/>
        </p:spPr>
      </p:sp>
      <p:pic>
        <p:nvPicPr>
          <p:cNvPr id="16" name="Image 2" descr="s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3524" y="235988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85632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auto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85632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saisie est enregistrée automatiquement.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2C5F2D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325112"/>
            <a:ext cx="530352" cy="530352"/>
          </a:xfrm>
          <a:prstGeom prst="ellipse">
            <a:avLst/>
          </a:prstGeom>
          <a:solidFill>
            <a:srgbClr val="1B3320"/>
          </a:solidFill>
          <a:ln/>
        </p:spPr>
      </p:sp>
      <p:pic>
        <p:nvPicPr>
          <p:cNvPr id="21" name="Image 3" descr="m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004" y="4463004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sombre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Confort visuel, taille de texte ajustable (A−/A+).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34840" y="4069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2C5F2D"/>
          </a:solidFill>
          <a:ln/>
        </p:spPr>
      </p:sp>
      <p:sp>
        <p:nvSpPr>
          <p:cNvPr id="25" name="Shape 19"/>
          <p:cNvSpPr/>
          <p:nvPr/>
        </p:nvSpPr>
        <p:spPr>
          <a:xfrm>
            <a:off x="4690872" y="4325112"/>
            <a:ext cx="530352" cy="530352"/>
          </a:xfrm>
          <a:prstGeom prst="ellipse">
            <a:avLst/>
          </a:prstGeom>
          <a:solidFill>
            <a:srgbClr val="1B3320"/>
          </a:solidFill>
          <a:ln/>
        </p:spPr>
      </p:sp>
      <p:pic>
        <p:nvPicPr>
          <p:cNvPr id="26" name="Image 4" descr="expo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764" y="4463004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0872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90872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Sauvegardez ou transférez vos données à tout moment.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406908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2C5F2D"/>
          </a:solidFill>
          <a:ln/>
        </p:spPr>
      </p:sp>
      <p:sp>
        <p:nvSpPr>
          <p:cNvPr id="30" name="Shape 23"/>
          <p:cNvSpPr/>
          <p:nvPr/>
        </p:nvSpPr>
        <p:spPr>
          <a:xfrm>
            <a:off x="8485632" y="4325112"/>
            <a:ext cx="530352" cy="530352"/>
          </a:xfrm>
          <a:prstGeom prst="ellipse">
            <a:avLst/>
          </a:prstGeom>
          <a:solidFill>
            <a:srgbClr val="1B3320"/>
          </a:solidFill>
          <a:ln/>
        </p:spPr>
      </p:sp>
      <p:pic>
        <p:nvPicPr>
          <p:cNvPr id="31" name="Image 5" descr="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524" y="4463004"/>
            <a:ext cx="254569" cy="25456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85632" y="4983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académique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85632" y="53492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 sur l'ouvrage de référence Poitevin &amp; al.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32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931920"/>
            <a:ext cx="6400800" cy="6400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-1554480" y="4572000"/>
            <a:ext cx="4572000" cy="4572000"/>
          </a:xfrm>
          <a:prstGeom prst="ellipse">
            <a:avLst/>
          </a:prstGeom>
          <a:solidFill>
            <a:srgbClr val="7FA363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214884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L'expertise homéopathique, à portée de clic.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840480" y="3520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Materiamedica — Pharmacologie &amp; matière médicale homéopathique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4251960"/>
            <a:ext cx="2011680" cy="0"/>
          </a:xfrm>
          <a:prstGeom prst="line">
            <a:avLst/>
          </a:prstGeom>
          <a:noFill/>
          <a:ln w="19050">
            <a:solidFill>
              <a:srgbClr val="C7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du Dr Hédi Belhoula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: lead-dev@hotmail.com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2026-09-22T07:49:35Z</dcterms:created>
  <dcterms:modified xsi:type="dcterms:W3CDTF">2026-09-22T07:49:35Z</dcterms:modified>
</cp:coreProperties>
</file>