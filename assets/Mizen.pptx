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331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Mizen </a:t>
            </a:r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ميزان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3756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Jeûne intermittent adapté au grade d'obésité — un accompagnement nutritionnel pensé pour le régime tunisien.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806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Hédi Belhoula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080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 généraliste — cabinet de médecine générale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perte de poids ne se pilote pas avec un régime générique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cons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848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92024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protocole de jeûne intermittent (16:8, 18:6, 5:2…) n'a de sens que rapporté au grade d'obésité, à l'âge et aux antécédents du patient — pas appliqué à l'identique à tous.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icons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3639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9718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repères alimentaires génériques ignorent la cuisine tunisienne : couscous, chakchouka, harissa, pain complet n'apparaissent dans aucun plan standard.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2" descr="icons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879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402336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Diabète, tabac, grossesse, trouble du comportement alimentaire changent la conduite à tenir — et sont trop souvent vérifiés de mémoire, en consultation courte.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MIZEN — ميزان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fiche patient qui calcule, adapte et alerte — automatiquement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4670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5000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_pat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521184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20040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patient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611880"/>
            <a:ext cx="2798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Poids, taille, âge, tour de taille/hanche, bio-impédance, antécédents (diabète, tabac, grossesse, TCA).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42816" y="2057400"/>
            <a:ext cx="334670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17136" y="235000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_cal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312" y="2521184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17136" y="320040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517136" y="3611880"/>
            <a:ext cx="2798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IMC, grade OMS, métabolisme de base, dépense totale, apport cible et perte estimée / semaine.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45552" y="2057400"/>
            <a:ext cx="334670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19872" y="235000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_pl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048" y="252118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19872" y="320040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personnalisé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119872" y="3611880"/>
            <a:ext cx="2798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de jeûne, pyramide alimentaire, menu tunisien 7 jours et programme d'activité adaptés.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MIZEN — ميزان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fiche patient, au cœur de l'outil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Sexe, âge, poids, taille et antécédents suffisent : Mizen déduit l'IMC, le grade d'obésité, la masse grasse et la dépense énergétique, puis propose un protocole de jeûne adapté — avec alerte clinique quand un bilan médical est requis avant de démarrer.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0" y="1417320"/>
            <a:ext cx="5532120" cy="4892040"/>
          </a:xfrm>
          <a:prstGeom prst="roundRect">
            <a:avLst>
              <a:gd name="adj" fmla="val 2617"/>
            </a:avLst>
          </a:prstGeom>
          <a:solidFill>
            <a:srgbClr val="0B2E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1691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8FB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PATIENT — APERÇU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55080" y="2194560"/>
            <a:ext cx="4892040" cy="9144"/>
          </a:xfrm>
          <a:prstGeom prst="rect">
            <a:avLst/>
          </a:prstGeom>
          <a:solidFill>
            <a:srgbClr val="1B4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2267712"/>
            <a:ext cx="26906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(kg/m²)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045702" y="2267712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706624"/>
            <a:ext cx="4892040" cy="9144"/>
          </a:xfrm>
          <a:prstGeom prst="rect">
            <a:avLst/>
          </a:prstGeom>
          <a:solidFill>
            <a:srgbClr val="1B4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779776"/>
            <a:ext cx="26906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OMS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045702" y="2779776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Obésité sévère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218688"/>
            <a:ext cx="4892040" cy="9144"/>
          </a:xfrm>
          <a:prstGeom prst="rect">
            <a:avLst/>
          </a:prstGeom>
          <a:solidFill>
            <a:srgbClr val="1B4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3291840"/>
            <a:ext cx="26906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d'obésité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045702" y="3291840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730752"/>
            <a:ext cx="4892040" cy="9144"/>
          </a:xfrm>
          <a:prstGeom prst="rect">
            <a:avLst/>
          </a:prstGeom>
          <a:solidFill>
            <a:srgbClr val="1B4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3803904"/>
            <a:ext cx="26906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grasse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045702" y="3803904"/>
            <a:ext cx="220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élevée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379976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12403F"/>
          </a:solidFill>
          <a:ln w="15875">
            <a:solidFill>
              <a:srgbClr val="DD5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453542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18:6 ou 5:2 — Jeûne intermittent renforcé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86460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Obésité Grade II : fenêtre alimentaire réduite à 6h (ex. 13h–19h). Bilan médical recommandé avant démarrage.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MIZEN — ميزان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le parcours nutritionnel, dans un seul dossier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00253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_pat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163" y="2126163"/>
            <a:ext cx="228234" cy="2282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9536" y="258775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patient complète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2880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IMC, grade OMS, bio-impédance, tour de taille/hanche et risque cardio-métabolique calculés automatiquement.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70248" y="17830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9704" y="200253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_pyram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331" y="2126163"/>
            <a:ext cx="228234" cy="2282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9704" y="258775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Pyramide alimentaire tunisienne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489704" y="2880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visuels par groupe d'aliments, ajustés selon l'âge du patient.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00416" y="17830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19872" y="200253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_bow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499" y="212616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19872" y="258775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alimentaire 7 jours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119872" y="2880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tunisiens (chakchouka, couscous complet, légumes de saison) calculés selon la cible calorique.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13048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59536" y="403250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_walk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163" y="4156131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59536" y="461772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physique adaptée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59536" y="49103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hebdomadaire selon le grade d'obésité, calories brûlées estimées (formule MET × poids × durée).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70248" y="3813048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9704" y="403250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icons_cal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331" y="4156131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9704" y="461772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nutritionnel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489704" y="49103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Compositeur de repas à la tunisienne avec calcul des calories en temps réel et recommandations.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00416" y="3813048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19872" y="403250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icons_drop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499" y="4156131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119872" y="461772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la bio-impédance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119872" y="49103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Hydratation, masse grasse et masse protéique traduites en conseils concrets et en solutions d'hydratation.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MIZEN — ميزان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CLINIQUE INTÉGRÉE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alertes qui accompagnent la décision médicale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46704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67128"/>
            <a:ext cx="621792" cy="621792"/>
          </a:xfrm>
          <a:prstGeom prst="ellipse">
            <a:avLst/>
          </a:prstGeom>
          <a:solidFill>
            <a:srgbClr val="DD5A3C"/>
          </a:solidFill>
          <a:ln/>
        </p:spPr>
      </p:sp>
      <p:pic>
        <p:nvPicPr>
          <p:cNvPr id="6" name="Image 0" descr="icons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066" y="2328794"/>
            <a:ext cx="298460" cy="298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97180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II / III d'obésité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29000"/>
            <a:ext cx="2798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d'un bilan médical (glycémie, tension, bilan lipidique) avant de débuter le jeûne.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42816" y="1874520"/>
            <a:ext cx="3346704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17136" y="2167128"/>
            <a:ext cx="621792" cy="621792"/>
          </a:xfrm>
          <a:prstGeom prst="ellipse">
            <a:avLst/>
          </a:prstGeom>
          <a:solidFill>
            <a:srgbClr val="DD5A3C"/>
          </a:solidFill>
          <a:ln/>
        </p:spPr>
      </p:sp>
      <p:pic>
        <p:nvPicPr>
          <p:cNvPr id="11" name="Image 1" descr="icons_smo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802" y="2328794"/>
            <a:ext cx="298460" cy="298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17136" y="297180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fumeur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17136" y="3429000"/>
            <a:ext cx="2798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vers une consultation de tabacologie, en parallèle du suivi nutritionnel.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45552" y="1874520"/>
            <a:ext cx="3346704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19872" y="2167128"/>
            <a:ext cx="621792" cy="621792"/>
          </a:xfrm>
          <a:prstGeom prst="ellipse">
            <a:avLst/>
          </a:prstGeom>
          <a:solidFill>
            <a:srgbClr val="DD5A3C"/>
          </a:solidFill>
          <a:ln/>
        </p:spPr>
      </p:sp>
      <p:pic>
        <p:nvPicPr>
          <p:cNvPr id="16" name="Image 2" descr="icons_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538" y="2328794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19872" y="297180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cardio-métabolique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119872" y="3429000"/>
            <a:ext cx="2798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taille/hanche et tour de taille comparés aux seuils OMS, avec alerte si risque élevé.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074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recommandations sont générales et n'ont pas vocation à remplacer un diagnostic ou un avis médical individualisé.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MIZEN — ميزان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synthèse claire, à chaque consultation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coup d'œil : IMC, protocole de jeûne recommandé et apport calorique cible. Le compositeur de repas permet de vérifier chaque assiette pendant la consultation, avec un retour immédiat si le budget calorique est dépassé.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881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8892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E8F0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8986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DU COACH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154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36.4 (Obésité sévère, Grade II) — protocole recommandé : 18:6 ou 5:2. Apport cible ≈ 1200 kcal/jour.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4261104"/>
            <a:ext cx="10332720" cy="4572"/>
          </a:xfrm>
          <a:prstGeom prst="rect">
            <a:avLst/>
          </a:prstGeom>
          <a:solidFill>
            <a:srgbClr val="DCE6E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3159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 complet (cru)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4315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4315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kcal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645152"/>
            <a:ext cx="10332720" cy="4572"/>
          </a:xfrm>
          <a:prstGeom prst="rect">
            <a:avLst/>
          </a:prstGeom>
          <a:solidFill>
            <a:srgbClr val="DCE6E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70001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Lentilles cuites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7000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47000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kcal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5029200"/>
            <a:ext cx="10332720" cy="4572"/>
          </a:xfrm>
          <a:prstGeom prst="rect">
            <a:avLst/>
          </a:prstGeom>
          <a:solidFill>
            <a:srgbClr val="DCE6E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08406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Salade verte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5084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50840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kcal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413248"/>
            <a:ext cx="10332720" cy="4572"/>
          </a:xfrm>
          <a:prstGeom prst="rect">
            <a:avLst/>
          </a:prstGeom>
          <a:solidFill>
            <a:srgbClr val="DCE6E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4681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Chakchouka (poivrons/tomates/œuf)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4681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5468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C5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kcal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961888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DD5A3C">
              <a:alpha val="10000"/>
            </a:srgbClr>
          </a:solidFill>
          <a:ln w="12700">
            <a:solidFill>
              <a:srgbClr val="DD5A3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43000" y="596188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 repas composé : 576 kcal — dépasse le budget calorique indicatif du repas (≈ 400 kcal) : réduire les féculents ou les matières grasses.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MIZEN — ميزان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GAGNE LE CABINET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accompagnement structuré, sans alourdir la consultation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F4645"/>
          </a:solidFill>
          <a:ln/>
        </p:spPr>
      </p:sp>
      <p:pic>
        <p:nvPicPr>
          <p:cNvPr id="6" name="Image 0" descr="icons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21133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74320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retrouvé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54680"/>
            <a:ext cx="3163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calcul, la classification et le plan alimentaire sont générés automatiquement pour chaque patient.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42816" y="1965960"/>
            <a:ext cx="566928" cy="566928"/>
          </a:xfrm>
          <a:prstGeom prst="ellipse">
            <a:avLst/>
          </a:prstGeom>
          <a:solidFill>
            <a:srgbClr val="0F4645"/>
          </a:solidFill>
          <a:ln/>
        </p:spPr>
      </p:sp>
      <p:pic>
        <p:nvPicPr>
          <p:cNvPr id="10" name="Image 1" descr="icons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217" y="211336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42816" y="274320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hors cabinet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242816" y="3154680"/>
            <a:ext cx="3163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stockées localement (SQLite), export et sauvegarde sous le contrôle du praticien.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845552" y="1965960"/>
            <a:ext cx="566928" cy="566928"/>
          </a:xfrm>
          <a:prstGeom prst="ellipse">
            <a:avLst/>
          </a:prstGeom>
          <a:solidFill>
            <a:srgbClr val="0F4645"/>
          </a:solidFill>
          <a:ln/>
        </p:spPr>
      </p:sp>
      <p:pic>
        <p:nvPicPr>
          <p:cNvPr id="14" name="Image 2" descr="icons_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953" y="211336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845552" y="274320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plus fiable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845552" y="3154680"/>
            <a:ext cx="3163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poids, alertes cliniques et recommandations cohérentes d'une consultation à l'autre.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MIZEN — ميزان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743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Mizen </a:t>
            </a:r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ميزان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accompagnement nutritionnel plus juste, plus tunisien, plus sûr.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2026-09-22T11:50:04Z</dcterms:created>
  <dcterms:modified xsi:type="dcterms:W3CDTF">2026-09-22T11:50:04Z</dcterms:modified>
</cp:coreProperties>
</file>