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78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E29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F5C5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7FB69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B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suivi de croissance pédiatrique, simplifié pour chaque consultation.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9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Poids, taille, IMC, périmètre crânien : des courbes OMS et un calendrier vaccinal PEV Tunisie, intégrés dans un dossier patient unique.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initiative du Dr Hédi Belhoula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2423160"/>
            <a:ext cx="4160520" cy="3389345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524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52360" y="2423160"/>
            <a:ext cx="416052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2574036"/>
            <a:ext cx="416052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571232" y="251094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3" name="Shape 11"/>
          <p:cNvSpPr/>
          <p:nvPr/>
        </p:nvSpPr>
        <p:spPr>
          <a:xfrm>
            <a:off x="7726680" y="251094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4" name="Shape 12"/>
          <p:cNvSpPr/>
          <p:nvPr/>
        </p:nvSpPr>
        <p:spPr>
          <a:xfrm>
            <a:off x="7882128" y="251094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5" name="Image 0" descr="/mnt/user-data/uploads/22_09_2026_08_59_50_R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697480"/>
            <a:ext cx="4160520" cy="3115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suivi de croissance, un exercice précis mais chronophage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5" name="Image 0" descr="ru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2840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624328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poids, taille, IMC et périmètre crânien sur des courbes OMS papier, consultation après consultation, prend du temps et laisse place à l'erreur.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867912"/>
            <a:ext cx="548640" cy="54864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8" name="Image 1" descr="syri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4010558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7947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23 vaccins du calendrier PEV Tunisien pour chaque enfant, sans outil dédié, complique le repérage des retards.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5038344"/>
            <a:ext cx="548640" cy="54864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11" name="Image 2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5180990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4965192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praticien a besoin d'une vue d'ensemble immédiate — courbes, percentiles, vaccins — pour statuer en quelques secondes.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635240" y="1280160"/>
            <a:ext cx="3977640" cy="3234833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524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635240" y="1280160"/>
            <a:ext cx="397764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5" name="Shape 10"/>
          <p:cNvSpPr/>
          <p:nvPr/>
        </p:nvSpPr>
        <p:spPr>
          <a:xfrm>
            <a:off x="7635240" y="1431036"/>
            <a:ext cx="397764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6" name="Shape 11"/>
          <p:cNvSpPr/>
          <p:nvPr/>
        </p:nvSpPr>
        <p:spPr>
          <a:xfrm>
            <a:off x="7754112" y="136794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7" name="Shape 12"/>
          <p:cNvSpPr/>
          <p:nvPr/>
        </p:nvSpPr>
        <p:spPr>
          <a:xfrm>
            <a:off x="7909560" y="136794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8" name="Shape 13"/>
          <p:cNvSpPr/>
          <p:nvPr/>
        </p:nvSpPr>
        <p:spPr>
          <a:xfrm>
            <a:off x="8065008" y="136794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9" name="Image 3" descr="/mnt/user-data/uploads/22_09_2026_09_00_20_R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554480"/>
            <a:ext cx="3977640" cy="29605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5C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dossier patient complet, des repères cliniques instantanés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de bureau pensée pour le cabinet : dossier par patient, courbes OMS adaptées à la population tunisienne, calendrier vaccinal, et fiche imprimable en un clic.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0F2E29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429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suivis par consultation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32004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0F2E29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3429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754880" y="4343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vaccins du calendrier PEV Tunisie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32004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0F2E29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3429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95360" y="4343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sans connexion requise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3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construits à partir des courbes de croissance OMS et des recommandations HAS (surpoids/obésité de l'enfant, 2011) — des repères indicatifs, non un diagnostic.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résumé clinique en un coup d’œil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Poids, taille, IMC et périmètre crânien classés automatiquement par zone de percentile (P3, P15, P50, P85, P97), avec une recommandation clinique contextualisée.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5F7F5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52044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</a:t>
            </a: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crânien en zone P85–P97 → tag « à surveiller », avec conseil de corréler au développement psychomoteur.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8" name="Image 0" descr="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1599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50292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de l’IMC et classement de corpulence à chaque consultation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914400"/>
            <a:ext cx="5394960" cy="4313583"/>
          </a:xfrm>
          <a:prstGeom prst="roundRect">
            <a:avLst>
              <a:gd name="adj" fmla="val 1272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524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91440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2" name="Shape 9"/>
          <p:cNvSpPr/>
          <p:nvPr/>
        </p:nvSpPr>
        <p:spPr>
          <a:xfrm>
            <a:off x="6172200" y="1065276"/>
            <a:ext cx="539496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3" name="Shape 10"/>
          <p:cNvSpPr/>
          <p:nvPr/>
        </p:nvSpPr>
        <p:spPr>
          <a:xfrm>
            <a:off x="6291072" y="100218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6520" y="100218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5" name="Shape 12"/>
          <p:cNvSpPr/>
          <p:nvPr/>
        </p:nvSpPr>
        <p:spPr>
          <a:xfrm>
            <a:off x="6601968" y="100218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6" name="Image 1" descr="/mnt/user-data/uploads/22_09_2026_08_59_50_R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88720"/>
            <a:ext cx="5394960" cy="403926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355080" y="8686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courbes OMS lisibles, patient après patient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55080" y="233172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Poids, taille, IMC et périmètre crânien selon l'âge, superposés aux bandes P3–P97 de référence OMS, pour les tranches 0–3, 3–18 et plus de 18 ans.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55080" y="366674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34930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courbes : poids, taille, IMC, périmètre crânien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412394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3950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Bandes de référence P3 à P97 et médiane P50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458114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4407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du patient positionnées automatiquement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503834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864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visuelle en cas de mesure hors norme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5394960" cy="4289729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524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96012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110996"/>
            <a:ext cx="539496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6" name="Shape 14"/>
          <p:cNvSpPr/>
          <p:nvPr/>
        </p:nvSpPr>
        <p:spPr>
          <a:xfrm>
            <a:off x="758952" y="104790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104790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9848" y="104790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9" name="Image 0" descr="/mnt/user-data/uploads/22_09_2026_09_00_20_R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5394960" cy="401540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Calendrier vaccinal PEV Tunisie intégré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23 vaccins du calendrier national, avec âge prévu, date administrée et statut, modifiables en un clic pour ne plus jamais perdre le fil d'une vaccination.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F5C5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566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23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34640" y="356616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vaccins à jour pour ce patient — visible dès l'ouverture du dossier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7FB69E"/>
          </a:solidFill>
          <a:ln/>
        </p:spPr>
      </p:sp>
      <p:pic>
        <p:nvPicPr>
          <p:cNvPr id="9" name="Image 0" descr="syri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06851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49377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naissance à l’adolescence : BCG, Hépatite B, Pentavalent, Polio, Pneumocoque…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868680"/>
            <a:ext cx="5394960" cy="4434043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524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86868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1019556"/>
            <a:ext cx="539496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4" name="Shape 11"/>
          <p:cNvSpPr/>
          <p:nvPr/>
        </p:nvSpPr>
        <p:spPr>
          <a:xfrm>
            <a:off x="6291072" y="95646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5" name="Shape 12"/>
          <p:cNvSpPr/>
          <p:nvPr/>
        </p:nvSpPr>
        <p:spPr>
          <a:xfrm>
            <a:off x="6446520" y="95646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6" name="Shape 13"/>
          <p:cNvSpPr/>
          <p:nvPr/>
        </p:nvSpPr>
        <p:spPr>
          <a:xfrm>
            <a:off x="6601968" y="95646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7" name="Image 1" descr="/mnt/user-data/uploads/22_09_2026_09_00_51_R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43000"/>
            <a:ext cx="5394960" cy="415972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355080" y="8686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L’historique complet, toujours accessible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355080" y="233172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consultation enregistrée — date, âge, taille, poids, IMC, périmètre crânien, observations — reste modifiable et consultable en un instant.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55080" y="3657600"/>
            <a:ext cx="457200" cy="45720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6" name="Image 0" descr="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37764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0" y="3703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rapide en 4 champs, à chaque visite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4315968"/>
            <a:ext cx="457200" cy="45720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9" name="Image 1" descr="p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443484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43616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patient imprimable en PDF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4974336"/>
            <a:ext cx="457200" cy="45720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12" name="Image 2" descr="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509320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ou supprimer une entrée à tout moment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914400"/>
            <a:ext cx="5394960" cy="4295802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524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40080" y="91440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6" name="Shape 11"/>
          <p:cNvSpPr/>
          <p:nvPr/>
        </p:nvSpPr>
        <p:spPr>
          <a:xfrm>
            <a:off x="640080" y="1065276"/>
            <a:ext cx="539496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7" name="Shape 12"/>
          <p:cNvSpPr/>
          <p:nvPr/>
        </p:nvSpPr>
        <p:spPr>
          <a:xfrm>
            <a:off x="758952" y="100218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8" name="Shape 13"/>
          <p:cNvSpPr/>
          <p:nvPr/>
        </p:nvSpPr>
        <p:spPr>
          <a:xfrm>
            <a:off x="914400" y="100218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9" name="Shape 14"/>
          <p:cNvSpPr/>
          <p:nvPr/>
        </p:nvSpPr>
        <p:spPr>
          <a:xfrm>
            <a:off x="1069848" y="100218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20" name="Image 3" descr="/mnt/user-data/uploads/22_09_2026_09_01_15_R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188720"/>
            <a:ext cx="5394960" cy="40214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CONFIDENTIALITÉ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de vos patients restent chez vous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de données locale, un accès protégé par code, et un contrôle total sur l'export ou l'import de vos dossiers.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6" name="Image 0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193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008376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SQLite locale, sauvegardée automatiquement sur le poste — aucune reconnexion requise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9" name="Image 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415411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968496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verrouillé par code d’accès, propre au cabinet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1F5C52"/>
          </a:solidFill>
          <a:ln/>
        </p:spPr>
      </p:sp>
      <p:pic>
        <p:nvPicPr>
          <p:cNvPr id="12" name="Image 2" descr="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511423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928616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import de la base pour sauvegarder ou changer de poste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178040" y="1188720"/>
            <a:ext cx="4343400" cy="3301523"/>
          </a:xfrm>
          <a:prstGeom prst="roundRect">
            <a:avLst>
              <a:gd name="adj" fmla="val 1662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524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78040" y="1188720"/>
            <a:ext cx="4343400" cy="237744"/>
          </a:xfrm>
          <a:prstGeom prst="roundRect">
            <a:avLst>
              <a:gd name="adj" fmla="val 23077"/>
            </a:avLst>
          </a:prstGeom>
          <a:solidFill>
            <a:srgbClr val="E8E8E8"/>
          </a:solidFill>
          <a:ln/>
        </p:spPr>
      </p:sp>
      <p:sp>
        <p:nvSpPr>
          <p:cNvPr id="16" name="Shape 11"/>
          <p:cNvSpPr/>
          <p:nvPr/>
        </p:nvSpPr>
        <p:spPr>
          <a:xfrm>
            <a:off x="7178040" y="1319479"/>
            <a:ext cx="4343400" cy="11887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7" name="Text 12"/>
          <p:cNvSpPr/>
          <p:nvPr/>
        </p:nvSpPr>
        <p:spPr>
          <a:xfrm>
            <a:off x="7178040" y="1188720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croissance pédiatrique</a:t>
            </a:r>
            <a:endParaRPr lang="en-US" sz="900" dirty="0"/>
          </a:p>
        </p:txBody>
      </p:sp>
      <p:pic>
        <p:nvPicPr>
          <p:cNvPr id="18" name="Image 3" descr="/mnt/user-data/uploads/22_09_2026_08_58_08_R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1426464"/>
            <a:ext cx="4343400" cy="306377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D6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PEDIACLIC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Conçu pour le rythme réel du cabinet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F5C52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21992"/>
            <a:ext cx="530352" cy="530352"/>
          </a:xfrm>
          <a:prstGeom prst="ellipse">
            <a:avLst/>
          </a:prstGeom>
          <a:solidFill>
            <a:srgbClr val="0F2E29"/>
          </a:solidFill>
          <a:ln/>
        </p:spPr>
      </p:sp>
      <p:pic>
        <p:nvPicPr>
          <p:cNvPr id="6" name="Image 0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4" y="235988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3246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complet consulté et mis à jour en quelques secondes.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F5C52"/>
          </a:solidFill>
          <a:ln/>
        </p:spPr>
      </p:sp>
      <p:sp>
        <p:nvSpPr>
          <p:cNvPr id="10" name="Shape 7"/>
          <p:cNvSpPr/>
          <p:nvPr/>
        </p:nvSpPr>
        <p:spPr>
          <a:xfrm>
            <a:off x="4690872" y="2221992"/>
            <a:ext cx="530352" cy="530352"/>
          </a:xfrm>
          <a:prstGeom prst="ellipse">
            <a:avLst/>
          </a:prstGeom>
          <a:solidFill>
            <a:srgbClr val="0F2E29"/>
          </a:solidFill>
          <a:ln/>
        </p:spPr>
      </p:sp>
      <p:pic>
        <p:nvPicPr>
          <p:cNvPr id="11" name="Image 1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764" y="235988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OMS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90872" y="3246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Poids, taille, IMC, PC replacés automatiquement sur les percentiles.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F5C5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85632" y="2221992"/>
            <a:ext cx="530352" cy="530352"/>
          </a:xfrm>
          <a:prstGeom prst="ellipse">
            <a:avLst/>
          </a:prstGeom>
          <a:solidFill>
            <a:srgbClr val="0F2E29"/>
          </a:solidFill>
          <a:ln/>
        </p:spPr>
      </p:sp>
      <p:pic>
        <p:nvPicPr>
          <p:cNvPr id="16" name="Image 2" descr="syri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3524" y="235988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vaccinal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85632" y="3246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calendrier PEV Tunisie à jour, visible dès l’ouverture du dossier.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F5C52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325112"/>
            <a:ext cx="530352" cy="530352"/>
          </a:xfrm>
          <a:prstGeom prst="ellipse">
            <a:avLst/>
          </a:prstGeom>
          <a:solidFill>
            <a:srgbClr val="0F2E29"/>
          </a:solidFill>
          <a:ln/>
        </p:spPr>
      </p:sp>
      <p:pic>
        <p:nvPicPr>
          <p:cNvPr id="21" name="Image 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004" y="4463004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locale, accès protégé par code d’accès du cabinet.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34840" y="40690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F5C52"/>
          </a:solidFill>
          <a:ln/>
        </p:spPr>
      </p:sp>
      <p:sp>
        <p:nvSpPr>
          <p:cNvPr id="25" name="Shape 19"/>
          <p:cNvSpPr/>
          <p:nvPr/>
        </p:nvSpPr>
        <p:spPr>
          <a:xfrm>
            <a:off x="4690872" y="4325112"/>
            <a:ext cx="530352" cy="530352"/>
          </a:xfrm>
          <a:prstGeom prst="ellipse">
            <a:avLst/>
          </a:prstGeom>
          <a:solidFill>
            <a:srgbClr val="0F2E29"/>
          </a:solidFill>
          <a:ln/>
        </p:spPr>
      </p:sp>
      <p:pic>
        <p:nvPicPr>
          <p:cNvPr id="26" name="Image 4" descr="p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764" y="4463004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0872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imprimable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90872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export PDF prêt à remettre au patient ou à archiver.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40690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F5C52"/>
          </a:solidFill>
          <a:ln/>
        </p:spPr>
      </p:sp>
      <p:sp>
        <p:nvSpPr>
          <p:cNvPr id="30" name="Shape 23"/>
          <p:cNvSpPr/>
          <p:nvPr/>
        </p:nvSpPr>
        <p:spPr>
          <a:xfrm>
            <a:off x="8485632" y="4325112"/>
            <a:ext cx="530352" cy="530352"/>
          </a:xfrm>
          <a:prstGeom prst="ellipse">
            <a:avLst/>
          </a:prstGeom>
          <a:solidFill>
            <a:srgbClr val="0F2E29"/>
          </a:solidFill>
          <a:ln/>
        </p:spPr>
      </p:sp>
      <p:pic>
        <p:nvPicPr>
          <p:cNvPr id="31" name="Image 5" descr="excha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3524" y="4463004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Import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85632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Sauvegardez ou transférez vos dossiers à tout moment.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E29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6400800" cy="6400800"/>
          </a:xfrm>
          <a:prstGeom prst="ellipse">
            <a:avLst/>
          </a:prstGeom>
          <a:solidFill>
            <a:srgbClr val="1F5C52"/>
          </a:solidFill>
          <a:ln/>
        </p:spPr>
      </p:sp>
      <p:sp>
        <p:nvSpPr>
          <p:cNvPr id="4" name="Shape 2"/>
          <p:cNvSpPr/>
          <p:nvPr/>
        </p:nvSpPr>
        <p:spPr>
          <a:xfrm>
            <a:off x="-1554480" y="4572000"/>
            <a:ext cx="4572000" cy="4572000"/>
          </a:xfrm>
          <a:prstGeom prst="ellipse">
            <a:avLst/>
          </a:prstGeom>
          <a:solidFill>
            <a:srgbClr val="7FB69E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21488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courbe de croissance, à portée de main.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840480" y="3520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B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PediaClic — Suivi de croissance pédiatrique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4251960"/>
            <a:ext cx="2011680" cy="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du Dr Hédi Belhoula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au numérique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703</Words>
  <Application>Microsoft Office PowerPoint</Application>
  <PresentationFormat>Grand écran</PresentationFormat>
  <Paragraphs>94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Cabinet Belhoula Hédi</cp:lastModifiedBy>
  <cp:revision>2</cp:revision>
  <dcterms:created xsi:type="dcterms:W3CDTF">2026-09-22T08:04:58Z</dcterms:created>
  <dcterms:modified xsi:type="dcterms:W3CDTF">2026-09-22T08:09:14Z</dcterms:modified>
</cp:coreProperties>
</file>