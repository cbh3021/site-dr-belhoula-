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8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55A5B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DD5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OSTEOPOROSIS INDEX OF RISK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Calculateur OSIRIS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FE0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Stratifier en quelques secondes le risque d'ostéoporose chez la femme ménopausée asymptomatique — et orienter, sans excès, l'indication d'une ostéodensitométrie.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993392" cy="420624"/>
          </a:xfrm>
          <a:prstGeom prst="roundRect">
            <a:avLst>
              <a:gd name="adj" fmla="val 50000"/>
            </a:avLst>
          </a:prstGeom>
          <a:solidFill>
            <a:srgbClr val="155A5B">
              <a:alpha val="70000"/>
            </a:srgbClr>
          </a:solidFill>
          <a:ln w="12700">
            <a:solidFill>
              <a:srgbClr val="2E6C6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25196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2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 en 4 variables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34640" y="4251960"/>
            <a:ext cx="3296412" cy="420624"/>
          </a:xfrm>
          <a:prstGeom prst="roundRect">
            <a:avLst>
              <a:gd name="adj" fmla="val 50000"/>
            </a:avLst>
          </a:prstGeom>
          <a:solidFill>
            <a:srgbClr val="155A5B">
              <a:alpha val="70000"/>
            </a:srgbClr>
          </a:solidFill>
          <a:ln w="12700">
            <a:solidFill>
              <a:srgbClr val="2E6C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4251960"/>
            <a:ext cx="32964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2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 local, aucune donnée transmise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32220" y="4251960"/>
            <a:ext cx="2253996" cy="420624"/>
          </a:xfrm>
          <a:prstGeom prst="roundRect">
            <a:avLst>
              <a:gd name="adj" fmla="val 50000"/>
            </a:avLst>
          </a:prstGeom>
          <a:solidFill>
            <a:srgbClr val="155A5B">
              <a:alpha val="70000"/>
            </a:srgbClr>
          </a:solidFill>
          <a:ln w="12700">
            <a:solidFill>
              <a:srgbClr val="2E6C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32220" y="4251960"/>
            <a:ext cx="22539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2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Historique &amp; export CSV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 Hédi Belhoula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327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2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Médecin généraliste — développeur d'outils cliniques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9A3B2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 BESOIN CLINIQUE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2A2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Qui envoyer en ostéodensitométrie 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L'ostéodensitométrie n'est ni systématique, ni illimitée. OSIRIS (Sedrine et al., 2002) aide à cibler les femmes ménopausées asymptomatiques qui en tireront le plus de bénéfice, à partir de quatre variables simples déjà connues en consultation.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7432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0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5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327355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Âge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6576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 la plus lourde dans le score : le risque augmente avec les années.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27432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0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02736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5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02736" y="327355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02736" y="36576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poids bas retire de la protection mécanique et hormonale sur l'os.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8776" y="27432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0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9944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5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327355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THS actuel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36576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traitement hormonal substitutif en cours ajoute 2 points de protection.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15984" y="27432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0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17152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5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217152" y="327355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Fracture antérieure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17152" y="36576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antécédent de fracture à faible impact retire 2 points au score.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983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consultation dédiée à ce calcul n'est pas réaliste en pratique quotidienne — l'outil doit répondre en quelques secondes.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Calculateur OSIRIS — Dr Hédi Belhoula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C52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9A3B2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COMMENT ÇA MARCHE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2A2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Quatre champs, aucune friction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82296" cy="658368"/>
          </a:xfrm>
          <a:prstGeom prst="roundRect">
            <a:avLst/>
          </a:prstGeom>
          <a:solidFill>
            <a:srgbClr val="DD5A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801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Identifiant patiente facultatif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3055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initiales ou n° de dossier, pour retrouver un calcul plus tard.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724912"/>
            <a:ext cx="82296" cy="658368"/>
          </a:xfrm>
          <a:prstGeom prst="roundRect">
            <a:avLst/>
          </a:prstGeom>
          <a:solidFill>
            <a:srgbClr val="DD5A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69748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« Patiente ménopausée »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02666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 de validité de l'index, rappelée avant tout résultat.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621024"/>
            <a:ext cx="82296" cy="658368"/>
          </a:xfrm>
          <a:prstGeom prst="roundRect">
            <a:avLst/>
          </a:prstGeom>
          <a:solidFill>
            <a:srgbClr val="DD5A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59359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Âge et poids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92277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seules mesures nécessaires, avec validation des plages saisies.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82296" cy="658368"/>
          </a:xfrm>
          <a:prstGeom prst="roundRect">
            <a:avLst/>
          </a:prstGeom>
          <a:solidFill>
            <a:srgbClr val="DD5A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448970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THS actuel et fracture antérieure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8188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deux boutons oui/non, pondérés automatiquement.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00416" y="931074"/>
            <a:ext cx="3694176" cy="5087291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19050">
            <a:solidFill>
              <a:srgbClr val="D7E0DD"/>
            </a:solidFill>
            <a:prstDash val="solid"/>
          </a:ln>
          <a:effectLst>
            <a:outerShdw sx="100000" sy="100000" kx="0" ky="0" algn="bl" rotWithShape="0" blurRad="177800" dist="76200" dir="5400000">
              <a:srgbClr val="0E2A2C">
                <a:alpha val="18000"/>
              </a:srgbClr>
            </a:outerShdw>
          </a:effectLst>
        </p:spPr>
      </p:sp>
      <p:pic>
        <p:nvPicPr>
          <p:cNvPr id="17" name="Image 0" descr="/home/claude/pptx_work/shot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5864" y="1086522"/>
            <a:ext cx="3383280" cy="477639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Calculateur OSIRIS — Dr Hédi Belhoula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C52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8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DD5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COMMENT ÇA MARCHE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 score, et le détail du calcul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459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0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Dès que l'âge et le poids sont renseignés, le score s'affiche avec sa stratification (risque élevé / intermédiaire / faible) et une recommandation de prise en charge — sans attendre une validation manuelle.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Détail du calcul, affiché à la patiente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Âge (51 ans × -2, dernier chiffre retiré)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2743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-10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1638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Poids (44 kg × 2, dernier chiffre retiré)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31638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5844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THS actuel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3584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0050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Fracture antérieure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40050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443984"/>
            <a:ext cx="5669280" cy="0"/>
          </a:xfrm>
          <a:prstGeom prst="line">
            <a:avLst/>
          </a:prstGeom>
          <a:noFill/>
          <a:ln w="12700">
            <a:solidFill>
              <a:srgbClr val="2E6C6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354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OSIRIS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45171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D5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92863" y="690372"/>
            <a:ext cx="3101729" cy="5202936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0" descr="/home/claude/pptx_work/shot-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8311" y="845820"/>
            <a:ext cx="2790833" cy="48920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2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Calculateur OSIRIS — Dr Hédi Belhoula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2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9A3B2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FIABILITÉ CLINIQUE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E2A2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Une échelle lisible, des limites assumées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82296" cy="658368"/>
          </a:xfrm>
          <a:prstGeom prst="roundRect">
            <a:avLst/>
          </a:prstGeom>
          <a:solidFill>
            <a:srgbClr val="155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75564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Trois zones de risque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848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élevé (&lt; -3), intermédiaire (-3 à +1), faible (&gt; +1) — code couleur immédiat.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651760"/>
            <a:ext cx="82296" cy="658368"/>
          </a:xfrm>
          <a:prstGeom prst="roundRect">
            <a:avLst/>
          </a:prstGeom>
          <a:solidFill>
            <a:srgbClr val="155A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62432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Explication du calcul accessible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95351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lien « Comment est calculé ce score ? » pour la pédagogie patiente.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520440"/>
            <a:ext cx="82296" cy="658368"/>
          </a:xfrm>
          <a:prstGeom prst="roundRect">
            <a:avLst/>
          </a:prstGeom>
          <a:solidFill>
            <a:srgbClr val="155A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49300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Population validée rappelée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82219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 destiné aux hommes, ni aux patientes à haut risque d'ostéoporose secondaire.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389120"/>
            <a:ext cx="82296" cy="658368"/>
          </a:xfrm>
          <a:prstGeom prst="roundRect">
            <a:avLst/>
          </a:prstGeom>
          <a:solidFill>
            <a:srgbClr val="155A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436168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Référence scientifique citée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69087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Sedrine et al., Gynecol Endocrinol. 2002;16(3):245-250 — affichée sur l'écran.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17536" y="1776520"/>
            <a:ext cx="3877056" cy="339640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9050">
            <a:solidFill>
              <a:srgbClr val="D7E0DD"/>
            </a:solidFill>
            <a:prstDash val="solid"/>
          </a:ln>
          <a:effectLst>
            <a:outerShdw sx="100000" sy="100000" kx="0" ky="0" algn="bl" rotWithShape="0" blurRad="177800" dist="76200" dir="5400000">
              <a:srgbClr val="0E2A2C">
                <a:alpha val="18000"/>
              </a:srgbClr>
            </a:outerShdw>
          </a:effectLst>
        </p:spPr>
      </p:sp>
      <p:pic>
        <p:nvPicPr>
          <p:cNvPr id="17" name="Image 0" descr="/home/claude/pptx_work/shot-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2984" y="1931968"/>
            <a:ext cx="3566160" cy="308550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5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Calculateur OSIRIS — Dr Hédi Belhoula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C52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8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55A5B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DD5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CONFIDENTIALITÉ &amp; SUITE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686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Tout reste sur l'appareil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82296" cy="621792"/>
          </a:xfrm>
          <a:prstGeom prst="roundRect">
            <a:avLst/>
          </a:prstGeom>
          <a:solidFill>
            <a:srgbClr val="DD5A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5564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Historique local par patiente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06654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chaque calcul enregistré reste consultable, avec score et niveau de risque.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82296" cy="621792"/>
          </a:xfrm>
          <a:prstGeom prst="roundRect">
            <a:avLst/>
          </a:prstGeom>
          <a:solidFill>
            <a:srgbClr val="DD5A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257860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CSV à la demande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88950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 archiver ou transférer les données hors de l'appareil si besoin.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429000"/>
            <a:ext cx="82296" cy="621792"/>
          </a:xfrm>
          <a:prstGeom prst="roundRect">
            <a:avLst/>
          </a:prstGeom>
          <a:solidFill>
            <a:srgbClr val="DD5A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340156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Aucune donnée transmise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71246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stockage uniquement dans le navigateur — pas de serveur, pas de synchronisation.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251960"/>
            <a:ext cx="82296" cy="621792"/>
          </a:xfrm>
          <a:prstGeom prst="roundRect">
            <a:avLst/>
          </a:prstGeom>
          <a:solidFill>
            <a:srgbClr val="DD5A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22452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Impression prête pour le dossier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3542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résultat imprimable directement pour le dossier patient.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17536" y="1916178"/>
            <a:ext cx="3877056" cy="3025644"/>
          </a:xfrm>
          <a:prstGeom prst="roundRect">
            <a:avLst>
              <a:gd name="adj" fmla="val 30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0" descr="/home/claude/pptx_work/shot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2984" y="2071626"/>
            <a:ext cx="3566160" cy="271474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40080" y="6355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2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 Hédi Belhoula — Médecin généraliste &amp; développeur d'outils cliniques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2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2026-09-23T07:51:07Z</dcterms:created>
  <dcterms:modified xsi:type="dcterms:W3CDTF">2026-09-23T07:51:07Z</dcterms:modified>
</cp:coreProperties>
</file>