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779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669280" cy="5669280"/>
          </a:xfrm>
          <a:prstGeom prst="ellipse">
            <a:avLst/>
          </a:prstGeom>
          <a:ln w="15240">
            <a:solidFill>
              <a:srgbClr val="2C5C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640080"/>
            <a:ext cx="4023360" cy="4023360"/>
          </a:xfrm>
          <a:prstGeom prst="ellipse">
            <a:avLst/>
          </a:prstGeom>
          <a:ln w="15240">
            <a:solidFill>
              <a:srgbClr val="2C5C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182880"/>
            <a:ext cx="2377440" cy="2377440"/>
          </a:xfrm>
          <a:prstGeom prst="ellipse">
            <a:avLst/>
          </a:prstGeom>
          <a:ln w="15240">
            <a:solidFill>
              <a:srgbClr val="355F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94360"/>
            <a:ext cx="502920" cy="502920"/>
          </a:xfrm>
          <a:prstGeom prst="ellipse">
            <a:avLst/>
          </a:prstGeom>
          <a:solidFill>
            <a:srgbClr val="2F6F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621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Hédi Belhoula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Clope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703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dépendance tabagique, paquets-années et recommandations de sevrage personnalisées.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bureau — Dr Hédi Belhoula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constat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de la dépendance tabagique et le choix de la stratégie de sevrage reposent encore souvent sur l'expérience du praticien, sans échelle ni méthode structurée à disposition en consultation.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6" name="Image 0" descr="/home/claude/dc_deck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27742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670048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 informelle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026664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degré de dépendance à la nicotine est estimé à l'œil, sans échelle validée systématiquement utilisée.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867912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0" name="Image 1" descr="/home/claude/dc_deck/icons/f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90" y="3944722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84048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Antécédents dispersés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4197096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Comorbidités (grossesse, BPCO, addictions associées) pas toujours recherchées de façon systématique.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038344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4" name="Image 2" descr="/home/claude/dc_deck/icons/com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90" y="5115154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5010912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Conseils génériques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536752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recommandations de sevrage ne tiennent pas toujours compte du profil précis du patient.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F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questionnaire structuré. Un score validé. Une stratégie sur mesure.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Clope réunit en une seule application l'anamnèse, le test de Fagerström et la génération automatique de recommandations de sevrage.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41071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520440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8" name="Image 0" descr="/home/claude/dc_deck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3597250"/>
            <a:ext cx="395021" cy="3950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42062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5720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2 minutes pour compléter l'anamnèse et le test de Fagerström.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3246120"/>
            <a:ext cx="341071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520440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3" name="Image 1" descr="/home/claude/dc_deck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810" y="35972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42062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Validé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5720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l'échelle de référence FTND (Fagerström), 6 items, score de 0 à 10.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55280" y="3246120"/>
            <a:ext cx="341071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0" y="3520440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8" name="Image 2" descr="/home/claude/dc_deck/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410" y="35972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29600" y="42062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Personnalisé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0" y="45720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ajustées automatiquement aux comorbidités renseignées.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parcours, en 3 étapes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1F4B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72384" y="2368296"/>
            <a:ext cx="566928" cy="566928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8" name="Image 0" descr="/home/claude/dc_deck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754" y="2447666"/>
            <a:ext cx="408188" cy="4081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Anamnèse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657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Cigarettes/jour, durée de tabagisme et comorbidités : calcul automatique des paquets-années.</a:t>
            </a:r>
            <a:endParaRPr lang="en-US" sz="1250" dirty="0"/>
          </a:p>
        </p:txBody>
      </p:sp>
      <p:pic>
        <p:nvPicPr>
          <p:cNvPr id="11" name="Image 1" descr="/home/claude/dc_deck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3625596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15968" y="214884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90288" y="2423160"/>
            <a:ext cx="457200" cy="457200"/>
          </a:xfrm>
          <a:prstGeom prst="ellipse">
            <a:avLst/>
          </a:prstGeom>
          <a:solidFill>
            <a:srgbClr val="1F4B4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902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748272" y="2368296"/>
            <a:ext cx="566928" cy="566928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6" name="Image 2" descr="/home/claude/dc_deck/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642" y="2447666"/>
            <a:ext cx="408188" cy="4081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90288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Fagerström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90288" y="3657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score de dépendance de 0 à 10, avec profil de dépendance affiché.</a:t>
            </a:r>
            <a:endParaRPr lang="en-US" sz="1250" dirty="0"/>
          </a:p>
        </p:txBody>
      </p:sp>
      <p:pic>
        <p:nvPicPr>
          <p:cNvPr id="19" name="Image 3" descr="/home/claude/dc_deck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3625596"/>
            <a:ext cx="292608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991856" y="214884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66176" y="2423160"/>
            <a:ext cx="457200" cy="457200"/>
          </a:xfrm>
          <a:prstGeom prst="ellipse">
            <a:avLst/>
          </a:prstGeom>
          <a:solidFill>
            <a:srgbClr val="1F4B4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266176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10424160" y="2368296"/>
            <a:ext cx="566928" cy="566928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24" name="Image 4" descr="/home/claude/dc_deck/icons/no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3530" y="2447666"/>
            <a:ext cx="408188" cy="40818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66176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8266176" y="3657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pharmacologique, accompagnement et suivi générés selon le profil du patient.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5623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précautions liées aux comorbidités sont intégrées automatiquement à la stratégie proposée à l'étape 3.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produit, en situation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75408" y="1600200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dc_deck/screens/anamne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568" y="2278454"/>
            <a:ext cx="2971800" cy="280401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75408" y="5897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Anamnèse &amp; paquets-années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70168" y="1600200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</p:spPr>
      </p:sp>
      <p:pic>
        <p:nvPicPr>
          <p:cNvPr id="8" name="Image 1" descr="/home/claude/dc_deck/screens/fagerstr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2106386"/>
            <a:ext cx="2971800" cy="31481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70168" y="5897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Test de Fagerström (FTND)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Rigueur clinique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Pensé pour guider, pas remplacer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530352" cy="530352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6" name="Image 0" descr="/home/claude/dc_deck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177369"/>
            <a:ext cx="381853" cy="3818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66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Échelle validée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5059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Fagerström (FTND), référence internationale pour mesurer la dépendance nicotinique.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103120"/>
            <a:ext cx="530352" cy="530352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1" name="Image 1" descr="/home/claude/dc_deck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769" y="2177369"/>
            <a:ext cx="381853" cy="38185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066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Alertes cliniques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45059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20 paquets-années signalé automatiquement pour orienter vers un dépistage BPCO / cancer bronchique.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069080"/>
            <a:ext cx="530352" cy="530352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6" name="Image 2" descr="/home/claude/dc_deck/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649" y="4143329"/>
            <a:ext cx="381853" cy="38185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0325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Comorbidités prises en compte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41655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Grossesse, BPCO, antécédents psychiatriques ou addictifs : précautions spécifiques intégrées à la stratégie.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69080"/>
            <a:ext cx="530352" cy="530352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21" name="Image 3" descr="/home/claude/dc_deck/icons/inf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769" y="4143329"/>
            <a:ext cx="381853" cy="38185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0325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Aide à la décision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41655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remplace pas le jugement clinique : posologies indicatives, à adapter à chaque patient.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Coulisses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Sous le capot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5" name="Image 0" descr="/home/claude/dc_deck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19056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01368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 bureau Windows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15798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en local sur l'ordinateur du cabinet, sans connexion internet requise.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9" name="Image 1" descr="/home/claude/dc_deck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90" y="295717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852928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donnée transmise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20954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informations saisies restent sur le poste, sans transmission vers un serveur externe.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3" name="Image 2" descr="/home/claude/dc_deck/icons/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90" y="400873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904488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de règles cliniques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26110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FTND et les comorbidités déclenchent automatiquement la recommandation adaptée.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7" name="Image 3" descr="/home/claude/dc_deck/icons/pr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90" y="5060290"/>
            <a:ext cx="395021" cy="3950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956048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Impression / export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5312664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d'une fiche imprimable en un clic, prête à joindre au dossier patient.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Pistes d'évolution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530352" cy="530352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6" name="Image 0" descr="/home/claude/dc_deck/icon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177369"/>
            <a:ext cx="381853" cy="3818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66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patient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5059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scores et suivis successifs d'un même patient au fil des consultations.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103120"/>
            <a:ext cx="530352" cy="530352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1" name="Image 1" descr="/home/claude/dc_deck/icons/filep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769" y="2177369"/>
            <a:ext cx="381853" cy="38185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066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PDF stylé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45059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recommandations mise en forme, prête à remettre au patient.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069080"/>
            <a:ext cx="530352" cy="530352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6" name="Image 2" descr="/home/claude/dc_deck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649" y="4143329"/>
            <a:ext cx="381853" cy="38185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0325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à CBH App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41655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avec le dossier patient et les autres outils du cabinet.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D6C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69080"/>
            <a:ext cx="530352" cy="530352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21" name="Image 3" descr="/home/claude/dc_deck/icons/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769" y="4143329"/>
            <a:ext cx="381853" cy="38185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0325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mobile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41655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l'outil en consultation, sur tablette ou smartphone.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ln w="15240">
            <a:solidFill>
              <a:srgbClr val="2C5C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ln w="15240">
            <a:solidFill>
              <a:srgbClr val="355F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outil de sevrage tabagique, prêt pour la consultation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Hédi Belhoula — Médecine générale, Homéopathie &amp; Aide au sevrage tabagique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5943600" cy="1188720"/>
          </a:xfrm>
          <a:prstGeom prst="roundRect">
            <a:avLst>
              <a:gd name="adj" fmla="val 4615"/>
            </a:avLst>
          </a:prstGeom>
          <a:solidFill>
            <a:srgbClr val="355F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0416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installée localement au cabinet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34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sur le poste du Dr Hédi Belhoula, en consultation de tabacologie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2286000"/>
            <a:ext cx="822960" cy="822960"/>
          </a:xfrm>
          <a:prstGeom prst="ellipse">
            <a:avLst/>
          </a:prstGeom>
          <a:solidFill>
            <a:srgbClr val="EAF2EF"/>
          </a:solidFill>
          <a:ln/>
        </p:spPr>
      </p:sp>
      <p:pic>
        <p:nvPicPr>
          <p:cNvPr id="12" name="Image 0" descr="/home/claude/dc_deck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294" y="2401214"/>
            <a:ext cx="592531" cy="59253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86968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Dernière Clope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bureau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C1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Grand écran</PresentationFormat>
  <Paragraphs>94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Cabinet Belhoula Hédi</cp:lastModifiedBy>
  <cp:revision>2</cp:revision>
  <dcterms:created xsi:type="dcterms:W3CDTF">2026-09-22T10:33:47Z</dcterms:created>
  <dcterms:modified xsi:type="dcterms:W3CDTF">2026-09-22T11:21:37Z</dcterms:modified>
</cp:coreProperties>
</file>